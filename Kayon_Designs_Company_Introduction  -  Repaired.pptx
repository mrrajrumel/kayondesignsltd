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1"/>
    <p:restoredTop sz="94610"/>
  </p:normalViewPr>
  <p:slideViewPr>
    <p:cSldViewPr snapToGrid="0" snapToObjects="1">
      <p:cViewPr varScale="1">
        <p:scale>
          <a:sx n="117" d="100"/>
          <a:sy n="117" d="100"/>
        </p:scale>
        <p:origin x="46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743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C60C"/>
          </a:solidFill>
          <a:ln w="12700">
            <a:solidFill>
              <a:srgbClr val="16C60C"/>
            </a:solidFill>
            <a:prstDash val="solid"/>
          </a:ln>
        </p:spPr>
      </p:sp>
      <p:sp>
        <p:nvSpPr>
          <p:cNvPr id="3" name="Shape 1"/>
          <p:cNvSpPr/>
          <p:nvPr/>
        </p:nvSpPr>
        <p:spPr>
          <a:xfrm>
            <a:off x="502920" y="6473952"/>
            <a:ext cx="11155680" cy="0"/>
          </a:xfrm>
          <a:prstGeom prst="line">
            <a:avLst/>
          </a:prstGeom>
          <a:noFill/>
          <a:ln w="12700">
            <a:solidFill>
              <a:srgbClr val="D9DEDA"/>
            </a:solidFill>
            <a:prstDash val="solid"/>
          </a:ln>
        </p:spPr>
      </p:sp>
      <p:sp>
        <p:nvSpPr>
          <p:cNvPr id="4" name="Text 2"/>
          <p:cNvSpPr/>
          <p:nvPr/>
        </p:nvSpPr>
        <p:spPr>
          <a:xfrm>
            <a:off x="502920" y="6510528"/>
            <a:ext cx="2286000" cy="164592"/>
          </a:xfrm>
          <a:prstGeom prst="rect">
            <a:avLst/>
          </a:prstGeom>
          <a:noFill/>
          <a:ln/>
        </p:spPr>
        <p:txBody>
          <a:bodyPr wrap="square" lIns="0" tIns="0" rIns="0" bIns="0" rtlCol="0" anchor="ctr"/>
          <a:lstStyle/>
          <a:p>
            <a:pPr marL="0" indent="0">
              <a:buNone/>
            </a:pPr>
            <a:r>
              <a:rPr lang="en-US" sz="700" b="1" dirty="0">
                <a:solidFill>
                  <a:srgbClr val="1B1F1C"/>
                </a:solidFill>
                <a:latin typeface="Aptos" pitchFamily="34" charset="0"/>
                <a:ea typeface="Aptos" pitchFamily="34" charset="-122"/>
                <a:cs typeface="Aptos" pitchFamily="34" charset="-120"/>
              </a:rPr>
              <a:t>KAYON DESIGNS LTD</a:t>
            </a:r>
            <a:endParaRPr lang="en-US" sz="700" dirty="0"/>
          </a:p>
        </p:txBody>
      </p:sp>
      <p:sp>
        <p:nvSpPr>
          <p:cNvPr id="5" name="Text 3"/>
          <p:cNvSpPr/>
          <p:nvPr/>
        </p:nvSpPr>
        <p:spPr>
          <a:xfrm>
            <a:off x="8458200" y="6510528"/>
            <a:ext cx="3200400" cy="164592"/>
          </a:xfrm>
          <a:prstGeom prst="rect">
            <a:avLst/>
          </a:prstGeom>
          <a:noFill/>
          <a:ln/>
        </p:spPr>
        <p:txBody>
          <a:bodyPr wrap="square" lIns="0" tIns="0" rIns="0" bIns="0" rtlCol="0" anchor="ctr"/>
          <a:lstStyle/>
          <a:p>
            <a:pPr marL="0" indent="0" algn="r">
              <a:buNone/>
            </a:pPr>
            <a:r>
              <a:rPr lang="en-US" sz="650" dirty="0">
                <a:solidFill>
                  <a:srgbClr val="6E756F"/>
                </a:solidFill>
                <a:latin typeface="Aptos" pitchFamily="34" charset="0"/>
                <a:ea typeface="Aptos" pitchFamily="34" charset="-122"/>
                <a:cs typeface="Aptos" pitchFamily="34" charset="-120"/>
              </a:rPr>
              <a:t>CONSTRUCTION LOGISTICS &amp; PLANNING CONSULTANCY</a:t>
            </a:r>
            <a:endParaRPr lang="en-US" sz="6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5"/>
        </a:solidFill>
        <a:effectLst/>
      </p:bgPr>
    </p:bg>
    <p:spTree>
      <p:nvGrpSpPr>
        <p:cNvPr id="1" name=""/>
        <p:cNvGrpSpPr/>
        <p:nvPr/>
      </p:nvGrpSpPr>
      <p:grpSpPr>
        <a:xfrm>
          <a:off x="0" y="0"/>
          <a:ext cx="0" cy="0"/>
          <a:chOff x="0" y="0"/>
          <a:chExt cx="0" cy="0"/>
        </a:xfrm>
      </p:grpSpPr>
      <p:sp>
        <p:nvSpPr>
          <p:cNvPr id="2" name="Shape 0"/>
          <p:cNvSpPr/>
          <p:nvPr/>
        </p:nvSpPr>
        <p:spPr>
          <a:xfrm>
            <a:off x="7818120" y="0"/>
            <a:ext cx="4373575" cy="6858000"/>
          </a:xfrm>
          <a:prstGeom prst="rect">
            <a:avLst/>
          </a:prstGeom>
          <a:solidFill>
            <a:srgbClr val="151A17"/>
          </a:solidFill>
          <a:ln w="12700">
            <a:solidFill>
              <a:srgbClr val="151A17"/>
            </a:solidFill>
            <a:prstDash val="solid"/>
          </a:ln>
        </p:spPr>
        <p:txBody>
          <a:bodyPr/>
          <a:lstStyle/>
          <a:p>
            <a:endParaRPr lang="en-US"/>
          </a:p>
        </p:txBody>
      </p:sp>
      <p:sp>
        <p:nvSpPr>
          <p:cNvPr id="3" name="Shape 1"/>
          <p:cNvSpPr/>
          <p:nvPr/>
        </p:nvSpPr>
        <p:spPr>
          <a:xfrm rot="1800000">
            <a:off x="8503920" y="685800"/>
            <a:ext cx="2926080" cy="2926080"/>
          </a:xfrm>
          <a:prstGeom prst="arc">
            <a:avLst/>
          </a:prstGeom>
          <a:solidFill>
            <a:srgbClr val="151A17">
              <a:alpha val="0"/>
            </a:srgbClr>
          </a:solidFill>
          <a:ln w="63500">
            <a:solidFill>
              <a:srgbClr val="16C60C">
                <a:alpha val="95000"/>
              </a:srgbClr>
            </a:solidFill>
            <a:prstDash val="solid"/>
          </a:ln>
        </p:spPr>
        <p:txBody>
          <a:bodyPr/>
          <a:lstStyle/>
          <a:p>
            <a:endParaRPr lang="en-US"/>
          </a:p>
        </p:txBody>
      </p:sp>
      <p:sp>
        <p:nvSpPr>
          <p:cNvPr id="4" name="Shape 2"/>
          <p:cNvSpPr/>
          <p:nvPr/>
        </p:nvSpPr>
        <p:spPr>
          <a:xfrm flipV="1">
            <a:off x="7818120" y="2394857"/>
            <a:ext cx="4373575" cy="2497183"/>
          </a:xfrm>
          <a:prstGeom prst="line">
            <a:avLst/>
          </a:prstGeom>
          <a:noFill/>
          <a:ln w="38100">
            <a:solidFill>
              <a:srgbClr val="16C60C"/>
            </a:solidFill>
            <a:prstDash val="solid"/>
          </a:ln>
        </p:spPr>
        <p:txBody>
          <a:bodyPr/>
          <a:lstStyle/>
          <a:p>
            <a:endParaRPr lang="en-US"/>
          </a:p>
        </p:txBody>
      </p:sp>
      <p:sp>
        <p:nvSpPr>
          <p:cNvPr id="5" name="Text 3"/>
          <p:cNvSpPr/>
          <p:nvPr/>
        </p:nvSpPr>
        <p:spPr>
          <a:xfrm>
            <a:off x="685800" y="658368"/>
            <a:ext cx="3474720" cy="777240"/>
          </a:xfrm>
          <a:prstGeom prst="rect">
            <a:avLst/>
          </a:prstGeom>
          <a:noFill/>
          <a:ln/>
        </p:spPr>
        <p:txBody>
          <a:bodyPr wrap="square" lIns="0" tIns="0" rIns="0" bIns="0" rtlCol="0" anchor="ctr"/>
          <a:lstStyle/>
          <a:p>
            <a:pPr marL="0" indent="0">
              <a:buNone/>
            </a:pPr>
            <a:r>
              <a:rPr lang="en-US" sz="4800" b="1" kern="0" spc="-100" dirty="0">
                <a:solidFill>
                  <a:srgbClr val="151A17"/>
                </a:solidFill>
              </a:rPr>
              <a:t>kayon</a:t>
            </a:r>
            <a:endParaRPr lang="en-US" sz="4800" dirty="0"/>
          </a:p>
        </p:txBody>
      </p:sp>
      <p:sp>
        <p:nvSpPr>
          <p:cNvPr id="6" name="Text 4"/>
          <p:cNvSpPr/>
          <p:nvPr/>
        </p:nvSpPr>
        <p:spPr>
          <a:xfrm>
            <a:off x="749808" y="1481328"/>
            <a:ext cx="3200400" cy="228600"/>
          </a:xfrm>
          <a:prstGeom prst="rect">
            <a:avLst/>
          </a:prstGeom>
          <a:noFill/>
          <a:ln/>
        </p:spPr>
        <p:txBody>
          <a:bodyPr wrap="square" lIns="0" tIns="0" rIns="0" bIns="0" rtlCol="0" anchor="ctr"/>
          <a:lstStyle/>
          <a:p>
            <a:pPr marL="0" indent="0">
              <a:buNone/>
            </a:pPr>
            <a:r>
              <a:rPr lang="en-US" sz="1200" kern="0" spc="600" dirty="0">
                <a:solidFill>
                  <a:srgbClr val="6F7771"/>
                </a:solidFill>
              </a:rPr>
              <a:t>DESIGNS LTD</a:t>
            </a:r>
            <a:endParaRPr lang="en-US" sz="1200" dirty="0"/>
          </a:p>
        </p:txBody>
      </p:sp>
      <p:sp>
        <p:nvSpPr>
          <p:cNvPr id="7" name="Text 5"/>
          <p:cNvSpPr/>
          <p:nvPr/>
        </p:nvSpPr>
        <p:spPr>
          <a:xfrm>
            <a:off x="685800" y="2240280"/>
            <a:ext cx="6217920" cy="1234440"/>
          </a:xfrm>
          <a:prstGeom prst="rect">
            <a:avLst/>
          </a:prstGeom>
          <a:noFill/>
          <a:ln/>
        </p:spPr>
        <p:txBody>
          <a:bodyPr wrap="square" lIns="0" tIns="0" rIns="0" bIns="0" rtlCol="0" anchor="ctr">
            <a:normAutofit/>
          </a:bodyPr>
          <a:lstStyle/>
          <a:p>
            <a:pPr marL="0" indent="0">
              <a:buNone/>
            </a:pPr>
            <a:r>
              <a:rPr lang="en-US" sz="3000" b="1" dirty="0">
                <a:solidFill>
                  <a:srgbClr val="151A17"/>
                </a:solidFill>
              </a:rPr>
              <a:t>Construction Logistics Planning</a:t>
            </a:r>
            <a:endParaRPr lang="en-US" sz="3000" dirty="0"/>
          </a:p>
          <a:p>
            <a:pPr marL="0" indent="0">
              <a:buNone/>
            </a:pPr>
            <a:r>
              <a:rPr lang="en-US" sz="3000" b="1" dirty="0">
                <a:solidFill>
                  <a:srgbClr val="151A17"/>
                </a:solidFill>
              </a:rPr>
              <a:t>&amp; Planning Consultancy</a:t>
            </a:r>
            <a:endParaRPr lang="en-US" sz="3000" dirty="0"/>
          </a:p>
        </p:txBody>
      </p:sp>
      <p:sp>
        <p:nvSpPr>
          <p:cNvPr id="8" name="Text 6"/>
          <p:cNvSpPr/>
          <p:nvPr/>
        </p:nvSpPr>
        <p:spPr>
          <a:xfrm>
            <a:off x="713232" y="3767328"/>
            <a:ext cx="6035040" cy="411480"/>
          </a:xfrm>
          <a:prstGeom prst="rect">
            <a:avLst/>
          </a:prstGeom>
          <a:noFill/>
          <a:ln/>
        </p:spPr>
        <p:txBody>
          <a:bodyPr wrap="square" lIns="0" tIns="0" rIns="0" bIns="0" rtlCol="0" anchor="ctr"/>
          <a:lstStyle/>
          <a:p>
            <a:pPr marL="0" indent="0">
              <a:buNone/>
            </a:pPr>
            <a:r>
              <a:rPr lang="en-US" sz="1500" dirty="0">
                <a:solidFill>
                  <a:srgbClr val="6F7771"/>
                </a:solidFill>
              </a:rPr>
              <a:t>Practical strategies. Faster approvals. Buildable solutions.</a:t>
            </a:r>
            <a:endParaRPr lang="en-US" sz="1500" dirty="0"/>
          </a:p>
        </p:txBody>
      </p:sp>
      <p:sp>
        <p:nvSpPr>
          <p:cNvPr id="9" name="Shape 7"/>
          <p:cNvSpPr/>
          <p:nvPr/>
        </p:nvSpPr>
        <p:spPr>
          <a:xfrm>
            <a:off x="713232" y="4645152"/>
            <a:ext cx="1417320" cy="310896"/>
          </a:xfrm>
          <a:prstGeom prst="roundRect">
            <a:avLst>
              <a:gd name="adj" fmla="val 23529"/>
            </a:avLst>
          </a:prstGeom>
          <a:solidFill>
            <a:srgbClr val="EAF8E9"/>
          </a:solidFill>
          <a:ln w="12700">
            <a:solidFill>
              <a:srgbClr val="C9EFC6"/>
            </a:solidFill>
            <a:prstDash val="solid"/>
          </a:ln>
        </p:spPr>
        <p:txBody>
          <a:bodyPr/>
          <a:lstStyle/>
          <a:p>
            <a:endParaRPr lang="en-US"/>
          </a:p>
        </p:txBody>
      </p:sp>
      <p:sp>
        <p:nvSpPr>
          <p:cNvPr id="10" name="Text 8"/>
          <p:cNvSpPr/>
          <p:nvPr/>
        </p:nvSpPr>
        <p:spPr>
          <a:xfrm>
            <a:off x="786384" y="4718304"/>
            <a:ext cx="1271016" cy="128016"/>
          </a:xfrm>
          <a:prstGeom prst="rect">
            <a:avLst/>
          </a:prstGeom>
          <a:noFill/>
          <a:ln/>
        </p:spPr>
        <p:txBody>
          <a:bodyPr wrap="square" lIns="0" tIns="0" rIns="0" bIns="0" rtlCol="0" anchor="ctr"/>
          <a:lstStyle/>
          <a:p>
            <a:pPr marL="0" indent="0" algn="ctr">
              <a:buNone/>
            </a:pPr>
            <a:r>
              <a:rPr lang="en-US" sz="850" b="1" dirty="0">
                <a:solidFill>
                  <a:srgbClr val="167C10"/>
                </a:solidFill>
              </a:rPr>
              <a:t>PLANNING</a:t>
            </a:r>
            <a:endParaRPr lang="en-US" sz="850" dirty="0"/>
          </a:p>
        </p:txBody>
      </p:sp>
      <p:sp>
        <p:nvSpPr>
          <p:cNvPr id="11" name="Shape 9"/>
          <p:cNvSpPr/>
          <p:nvPr/>
        </p:nvSpPr>
        <p:spPr>
          <a:xfrm>
            <a:off x="2267712" y="4645152"/>
            <a:ext cx="1600200" cy="310896"/>
          </a:xfrm>
          <a:prstGeom prst="roundRect">
            <a:avLst>
              <a:gd name="adj" fmla="val 23529"/>
            </a:avLst>
          </a:prstGeom>
          <a:solidFill>
            <a:srgbClr val="EAF8E9"/>
          </a:solidFill>
          <a:ln w="12700">
            <a:solidFill>
              <a:srgbClr val="C9EFC6"/>
            </a:solidFill>
            <a:prstDash val="solid"/>
          </a:ln>
        </p:spPr>
        <p:txBody>
          <a:bodyPr/>
          <a:lstStyle/>
          <a:p>
            <a:endParaRPr lang="en-US"/>
          </a:p>
        </p:txBody>
      </p:sp>
      <p:sp>
        <p:nvSpPr>
          <p:cNvPr id="12" name="Text 10"/>
          <p:cNvSpPr/>
          <p:nvPr/>
        </p:nvSpPr>
        <p:spPr>
          <a:xfrm>
            <a:off x="2340864" y="4718304"/>
            <a:ext cx="1453896" cy="128016"/>
          </a:xfrm>
          <a:prstGeom prst="rect">
            <a:avLst/>
          </a:prstGeom>
          <a:noFill/>
          <a:ln/>
        </p:spPr>
        <p:txBody>
          <a:bodyPr wrap="square" lIns="0" tIns="0" rIns="0" bIns="0" rtlCol="0" anchor="ctr"/>
          <a:lstStyle/>
          <a:p>
            <a:pPr marL="0" indent="0" algn="ctr">
              <a:buNone/>
            </a:pPr>
            <a:r>
              <a:rPr lang="en-US" sz="850" b="1" dirty="0">
                <a:solidFill>
                  <a:srgbClr val="167C10"/>
                </a:solidFill>
              </a:rPr>
              <a:t>LOGISTICS</a:t>
            </a:r>
            <a:endParaRPr lang="en-US" sz="850" dirty="0"/>
          </a:p>
        </p:txBody>
      </p:sp>
      <p:sp>
        <p:nvSpPr>
          <p:cNvPr id="13" name="Shape 11"/>
          <p:cNvSpPr/>
          <p:nvPr/>
        </p:nvSpPr>
        <p:spPr>
          <a:xfrm>
            <a:off x="4005072" y="4645152"/>
            <a:ext cx="1920240" cy="310896"/>
          </a:xfrm>
          <a:prstGeom prst="roundRect">
            <a:avLst>
              <a:gd name="adj" fmla="val 23529"/>
            </a:avLst>
          </a:prstGeom>
          <a:solidFill>
            <a:srgbClr val="EAF8E9"/>
          </a:solidFill>
          <a:ln w="12700">
            <a:solidFill>
              <a:srgbClr val="C9EFC6"/>
            </a:solidFill>
            <a:prstDash val="solid"/>
          </a:ln>
        </p:spPr>
        <p:txBody>
          <a:bodyPr/>
          <a:lstStyle/>
          <a:p>
            <a:endParaRPr lang="en-US"/>
          </a:p>
        </p:txBody>
      </p:sp>
      <p:sp>
        <p:nvSpPr>
          <p:cNvPr id="14" name="Text 12"/>
          <p:cNvSpPr/>
          <p:nvPr/>
        </p:nvSpPr>
        <p:spPr>
          <a:xfrm>
            <a:off x="4078224" y="4718304"/>
            <a:ext cx="1773936" cy="128016"/>
          </a:xfrm>
          <a:prstGeom prst="rect">
            <a:avLst/>
          </a:prstGeom>
          <a:noFill/>
          <a:ln/>
        </p:spPr>
        <p:txBody>
          <a:bodyPr wrap="square" lIns="0" tIns="0" rIns="0" bIns="0" rtlCol="0" anchor="ctr"/>
          <a:lstStyle/>
          <a:p>
            <a:pPr marL="0" indent="0" algn="ctr">
              <a:buNone/>
            </a:pPr>
            <a:r>
              <a:rPr lang="en-US" sz="850" b="1" dirty="0">
                <a:solidFill>
                  <a:srgbClr val="167C10"/>
                </a:solidFill>
              </a:rPr>
              <a:t>PRE-CONSTRUCTION</a:t>
            </a:r>
            <a:endParaRPr lang="en-US" sz="850" dirty="0"/>
          </a:p>
        </p:txBody>
      </p:sp>
      <p:sp>
        <p:nvSpPr>
          <p:cNvPr id="15" name="Text 13"/>
          <p:cNvSpPr/>
          <p:nvPr/>
        </p:nvSpPr>
        <p:spPr>
          <a:xfrm>
            <a:off x="713232" y="5897880"/>
            <a:ext cx="6309360" cy="320040"/>
          </a:xfrm>
          <a:prstGeom prst="rect">
            <a:avLst/>
          </a:prstGeom>
          <a:noFill/>
          <a:ln/>
        </p:spPr>
        <p:txBody>
          <a:bodyPr wrap="square" lIns="0" tIns="0" rIns="0" bIns="0" rtlCol="0" anchor="ctr"/>
          <a:lstStyle/>
          <a:p>
            <a:pPr marL="0" indent="0">
              <a:buNone/>
            </a:pPr>
            <a:r>
              <a:rPr lang="en-US" sz="1050" dirty="0">
                <a:solidFill>
                  <a:srgbClr val="6F7771"/>
                </a:solidFill>
              </a:rPr>
              <a:t>London | Supporting developers, contractors, project managers and consultants</a:t>
            </a:r>
            <a:endParaRPr lang="en-US" sz="1050" dirty="0"/>
          </a:p>
        </p:txBody>
      </p:sp>
      <p:sp>
        <p:nvSpPr>
          <p:cNvPr id="16" name="Text 14"/>
          <p:cNvSpPr/>
          <p:nvPr/>
        </p:nvSpPr>
        <p:spPr>
          <a:xfrm>
            <a:off x="8458200" y="5440680"/>
            <a:ext cx="2743200" cy="502920"/>
          </a:xfrm>
          <a:prstGeom prst="rect">
            <a:avLst/>
          </a:prstGeom>
          <a:noFill/>
          <a:ln/>
        </p:spPr>
        <p:txBody>
          <a:bodyPr wrap="square" lIns="0" tIns="0" rIns="0" bIns="0" rtlCol="0" anchor="ctr"/>
          <a:lstStyle/>
          <a:p>
            <a:pPr marL="0" indent="0" algn="ctr">
              <a:buNone/>
            </a:pPr>
            <a:r>
              <a:rPr lang="en-US" sz="2800" b="1" dirty="0">
                <a:solidFill>
                  <a:srgbClr val="FFFFFF"/>
                </a:solidFill>
              </a:rPr>
              <a:t>KAYON</a:t>
            </a:r>
            <a:endParaRPr lang="en-US" sz="2800" dirty="0"/>
          </a:p>
        </p:txBody>
      </p:sp>
      <p:sp>
        <p:nvSpPr>
          <p:cNvPr id="17" name="Text 15"/>
          <p:cNvSpPr/>
          <p:nvPr/>
        </p:nvSpPr>
        <p:spPr>
          <a:xfrm>
            <a:off x="8321040" y="5989320"/>
            <a:ext cx="3017520" cy="274320"/>
          </a:xfrm>
          <a:prstGeom prst="rect">
            <a:avLst/>
          </a:prstGeom>
          <a:noFill/>
          <a:ln/>
        </p:spPr>
        <p:txBody>
          <a:bodyPr wrap="square" lIns="0" tIns="0" rIns="0" bIns="0" rtlCol="0" anchor="ctr"/>
          <a:lstStyle/>
          <a:p>
            <a:pPr marL="0" indent="0" algn="ctr">
              <a:buNone/>
            </a:pPr>
            <a:r>
              <a:rPr lang="en-US" sz="900" b="1" kern="0" spc="120" dirty="0">
                <a:solidFill>
                  <a:srgbClr val="16C60C"/>
                </a:solidFill>
              </a:rPr>
              <a:t>BUILDABLE. COMPLIANT. EFFICIENT.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731520"/>
            <a:ext cx="640080" cy="640080"/>
          </a:xfrm>
          <a:prstGeom prst="rect">
            <a:avLst/>
          </a:prstGeom>
          <a:noFill/>
          <a:ln/>
        </p:spPr>
        <p:txBody>
          <a:bodyPr wrap="square" lIns="0" tIns="0" rIns="0" bIns="0" rtlCol="0" anchor="ctr"/>
          <a:lstStyle/>
          <a:p>
            <a:pPr marL="0" indent="0">
              <a:buNone/>
            </a:pPr>
            <a:r>
              <a:rPr lang="en-US" sz="6000" dirty="0">
                <a:solidFill>
                  <a:srgbClr val="16C60C"/>
                </a:solidFill>
              </a:rPr>
              <a:t>“</a:t>
            </a:r>
            <a:endParaRPr lang="en-US" sz="6000" dirty="0"/>
          </a:p>
        </p:txBody>
      </p:sp>
      <p:sp>
        <p:nvSpPr>
          <p:cNvPr id="3" name="Text 1"/>
          <p:cNvSpPr/>
          <p:nvPr/>
        </p:nvSpPr>
        <p:spPr>
          <a:xfrm>
            <a:off x="1325880" y="1051560"/>
            <a:ext cx="9509760" cy="1463040"/>
          </a:xfrm>
          <a:prstGeom prst="rect">
            <a:avLst/>
          </a:prstGeom>
          <a:noFill/>
          <a:ln/>
        </p:spPr>
        <p:txBody>
          <a:bodyPr wrap="square" lIns="0" tIns="0" rIns="0" bIns="0" rtlCol="0" anchor="ctr">
            <a:normAutofit/>
          </a:bodyPr>
          <a:lstStyle/>
          <a:p>
            <a:pPr marL="0" indent="0" algn="ctr">
              <a:buNone/>
            </a:pPr>
            <a:r>
              <a:rPr lang="en-US" sz="2800" b="1" dirty="0">
                <a:solidFill>
                  <a:srgbClr val="151A17"/>
                </a:solidFill>
              </a:rPr>
              <a:t>Our role is to bridge the gap between what is agreed at planning and what is realistically required to deliver the project.</a:t>
            </a:r>
            <a:endParaRPr lang="en-US" sz="2800" dirty="0"/>
          </a:p>
        </p:txBody>
      </p:sp>
      <p:sp>
        <p:nvSpPr>
          <p:cNvPr id="4" name="Text 2"/>
          <p:cNvSpPr/>
          <p:nvPr/>
        </p:nvSpPr>
        <p:spPr>
          <a:xfrm>
            <a:off x="1874520" y="2971800"/>
            <a:ext cx="8412480" cy="914400"/>
          </a:xfrm>
          <a:prstGeom prst="rect">
            <a:avLst/>
          </a:prstGeom>
          <a:noFill/>
          <a:ln/>
        </p:spPr>
        <p:txBody>
          <a:bodyPr wrap="square" lIns="0" tIns="0" rIns="0" bIns="0" rtlCol="0" anchor="ctr">
            <a:normAutofit/>
          </a:bodyPr>
          <a:lstStyle/>
          <a:p>
            <a:pPr marL="0" indent="0" algn="ctr">
              <a:buNone/>
            </a:pPr>
            <a:r>
              <a:rPr lang="en-US" sz="1600" dirty="0">
                <a:solidFill>
                  <a:srgbClr val="6F7771"/>
                </a:solidFill>
              </a:rPr>
              <a:t>We combine planning compliance with real construction experience - turning conditions, constraints and stakeholder requirements into practical strategies that work on site.</a:t>
            </a:r>
            <a:endParaRPr lang="en-US" sz="1600" dirty="0"/>
          </a:p>
        </p:txBody>
      </p:sp>
      <p:sp>
        <p:nvSpPr>
          <p:cNvPr id="5" name="Text 3"/>
          <p:cNvSpPr/>
          <p:nvPr/>
        </p:nvSpPr>
        <p:spPr>
          <a:xfrm>
            <a:off x="2926080" y="4800600"/>
            <a:ext cx="6309360" cy="457200"/>
          </a:xfrm>
          <a:prstGeom prst="rect">
            <a:avLst/>
          </a:prstGeom>
          <a:noFill/>
          <a:ln/>
        </p:spPr>
        <p:txBody>
          <a:bodyPr wrap="square" lIns="0" tIns="0" rIns="0" bIns="0" rtlCol="0" anchor="ctr"/>
          <a:lstStyle/>
          <a:p>
            <a:pPr marL="0" indent="0" algn="ctr">
              <a:buNone/>
            </a:pPr>
            <a:r>
              <a:rPr lang="en-US" sz="1800" b="1" kern="0" spc="150" dirty="0">
                <a:solidFill>
                  <a:srgbClr val="16C60C"/>
                </a:solidFill>
              </a:rPr>
              <a:t>PLANNING FOCUS. DELIVERY SUCCESS.</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ABOUT US</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Construction thinking from the client’s perspective.</a:t>
            </a:r>
            <a:endParaRPr lang="en-US" sz="2800" dirty="0"/>
          </a:p>
        </p:txBody>
      </p:sp>
      <p:sp>
        <p:nvSpPr>
          <p:cNvPr id="4" name="Text 2"/>
          <p:cNvSpPr/>
          <p:nvPr/>
        </p:nvSpPr>
        <p:spPr>
          <a:xfrm>
            <a:off x="594360" y="1371600"/>
            <a:ext cx="8046720" cy="457200"/>
          </a:xfrm>
          <a:prstGeom prst="rect">
            <a:avLst/>
          </a:prstGeom>
          <a:noFill/>
          <a:ln/>
        </p:spPr>
        <p:txBody>
          <a:bodyPr wrap="square" lIns="0" tIns="0" rIns="0" bIns="0" rtlCol="0" anchor="ctr"/>
          <a:lstStyle/>
          <a:p>
            <a:pPr marL="0" indent="0">
              <a:buNone/>
            </a:pPr>
            <a:r>
              <a:rPr lang="en-US" sz="1300" dirty="0">
                <a:solidFill>
                  <a:srgbClr val="6F7771"/>
                </a:solidFill>
              </a:rPr>
              <a:t>A specialist consultancy focused on construction logistics, planning compliance and pre-construction support.</a:t>
            </a:r>
            <a:endParaRPr lang="en-US" sz="1300" dirty="0"/>
          </a:p>
        </p:txBody>
      </p:sp>
      <p:sp>
        <p:nvSpPr>
          <p:cNvPr id="5" name="Text 3"/>
          <p:cNvSpPr/>
          <p:nvPr/>
        </p:nvSpPr>
        <p:spPr>
          <a:xfrm>
            <a:off x="640080" y="2057400"/>
            <a:ext cx="5486400" cy="1828800"/>
          </a:xfrm>
          <a:prstGeom prst="rect">
            <a:avLst/>
          </a:prstGeom>
          <a:noFill/>
          <a:ln/>
        </p:spPr>
        <p:txBody>
          <a:bodyPr wrap="square" lIns="0" tIns="0" rIns="0" bIns="0" rtlCol="0" anchor="ctr">
            <a:normAutofit/>
          </a:bodyPr>
          <a:lstStyle/>
          <a:p>
            <a:pPr marL="0" indent="0">
              <a:buNone/>
            </a:pPr>
            <a:r>
              <a:rPr lang="en-US" sz="1500" dirty="0">
                <a:solidFill>
                  <a:srgbClr val="252B27"/>
                </a:solidFill>
              </a:rPr>
              <a:t>Kayon Designs supports projects from early planning through to delivery. We work collaboratively with developers, planning consultants, project managers and contractors to identify constraints early, develop proportionate mitigation and produce documentation that is clear, technically robust and practical to implement.</a:t>
            </a:r>
            <a:endParaRPr lang="en-US" sz="1500" dirty="0"/>
          </a:p>
        </p:txBody>
      </p:sp>
      <p:sp>
        <p:nvSpPr>
          <p:cNvPr id="6" name="Text 4"/>
          <p:cNvSpPr/>
          <p:nvPr/>
        </p:nvSpPr>
        <p:spPr>
          <a:xfrm>
            <a:off x="640080" y="4023360"/>
            <a:ext cx="5486400" cy="1325880"/>
          </a:xfrm>
          <a:prstGeom prst="rect">
            <a:avLst/>
          </a:prstGeom>
          <a:noFill/>
          <a:ln/>
        </p:spPr>
        <p:txBody>
          <a:bodyPr wrap="square" lIns="0" tIns="0" rIns="0" bIns="0" rtlCol="0" anchor="ctr">
            <a:normAutofit/>
          </a:bodyPr>
          <a:lstStyle/>
          <a:p>
            <a:pPr marL="0" indent="0">
              <a:buNone/>
            </a:pPr>
            <a:r>
              <a:rPr lang="en-US" sz="1400" dirty="0">
                <a:solidFill>
                  <a:srgbClr val="6F7771"/>
                </a:solidFill>
              </a:rPr>
              <a:t>Our strength is the interface between planning requirements and construction reality - particularly site access, public highway constraints, vehicle movements, delivery management, temporary traffic arrangements and construction sequencing.</a:t>
            </a:r>
            <a:endParaRPr lang="en-US" sz="1400" dirty="0"/>
          </a:p>
        </p:txBody>
      </p:sp>
      <p:sp>
        <p:nvSpPr>
          <p:cNvPr id="7" name="Shape 5"/>
          <p:cNvSpPr/>
          <p:nvPr/>
        </p:nvSpPr>
        <p:spPr>
          <a:xfrm>
            <a:off x="6720840" y="1965960"/>
            <a:ext cx="2057400" cy="1143000"/>
          </a:xfrm>
          <a:prstGeom prst="roundRect">
            <a:avLst>
              <a:gd name="adj" fmla="val 6400"/>
            </a:avLst>
          </a:prstGeom>
          <a:solidFill>
            <a:srgbClr val="FFFFFF"/>
          </a:solidFill>
          <a:ln w="12700">
            <a:solidFill>
              <a:srgbClr val="DCE1DD"/>
            </a:solidFill>
            <a:prstDash val="solid"/>
          </a:ln>
        </p:spPr>
        <p:txBody>
          <a:bodyPr/>
          <a:lstStyle/>
          <a:p>
            <a:endParaRPr lang="en-US"/>
          </a:p>
        </p:txBody>
      </p:sp>
      <p:sp>
        <p:nvSpPr>
          <p:cNvPr id="8" name="Text 6"/>
          <p:cNvSpPr/>
          <p:nvPr/>
        </p:nvSpPr>
        <p:spPr>
          <a:xfrm>
            <a:off x="6885432" y="2112264"/>
            <a:ext cx="1389888" cy="320040"/>
          </a:xfrm>
          <a:prstGeom prst="rect">
            <a:avLst/>
          </a:prstGeom>
          <a:noFill/>
          <a:ln/>
        </p:spPr>
        <p:txBody>
          <a:bodyPr wrap="square" lIns="0" tIns="0" rIns="0" bIns="0" rtlCol="0" anchor="ctr"/>
          <a:lstStyle/>
          <a:p>
            <a:pPr marL="0" indent="0">
              <a:buNone/>
            </a:pPr>
            <a:r>
              <a:rPr lang="en-US" sz="1800" b="1" dirty="0">
                <a:solidFill>
                  <a:srgbClr val="16C60C"/>
                </a:solidFill>
              </a:rPr>
              <a:t>Practical</a:t>
            </a:r>
            <a:endParaRPr lang="en-US" sz="1800" dirty="0"/>
          </a:p>
        </p:txBody>
      </p:sp>
      <p:sp>
        <p:nvSpPr>
          <p:cNvPr id="9" name="Text 7"/>
          <p:cNvSpPr/>
          <p:nvPr/>
        </p:nvSpPr>
        <p:spPr>
          <a:xfrm>
            <a:off x="6885432" y="2532888"/>
            <a:ext cx="1691640" cy="347472"/>
          </a:xfrm>
          <a:prstGeom prst="rect">
            <a:avLst/>
          </a:prstGeom>
          <a:noFill/>
          <a:ln/>
        </p:spPr>
        <p:txBody>
          <a:bodyPr wrap="square" lIns="0" tIns="0" rIns="0" bIns="0" rtlCol="0" anchor="ctr">
            <a:normAutofit/>
          </a:bodyPr>
          <a:lstStyle/>
          <a:p>
            <a:pPr marL="0" indent="0">
              <a:buNone/>
            </a:pPr>
            <a:r>
              <a:rPr lang="en-US" sz="1050" b="1" dirty="0">
                <a:solidFill>
                  <a:srgbClr val="151A17"/>
                </a:solidFill>
              </a:rPr>
              <a:t>2.25</a:t>
            </a:r>
            <a:endParaRPr lang="en-US" sz="1050" dirty="0"/>
          </a:p>
        </p:txBody>
      </p:sp>
      <p:sp>
        <p:nvSpPr>
          <p:cNvPr id="10" name="Shape 8"/>
          <p:cNvSpPr/>
          <p:nvPr/>
        </p:nvSpPr>
        <p:spPr>
          <a:xfrm>
            <a:off x="9006840" y="1965960"/>
            <a:ext cx="2057400" cy="1143000"/>
          </a:xfrm>
          <a:prstGeom prst="roundRect">
            <a:avLst>
              <a:gd name="adj" fmla="val 6400"/>
            </a:avLst>
          </a:prstGeom>
          <a:solidFill>
            <a:srgbClr val="FFFFFF"/>
          </a:solidFill>
          <a:ln w="12700">
            <a:solidFill>
              <a:srgbClr val="DCE1DD"/>
            </a:solidFill>
            <a:prstDash val="solid"/>
          </a:ln>
        </p:spPr>
        <p:txBody>
          <a:bodyPr/>
          <a:lstStyle/>
          <a:p>
            <a:endParaRPr lang="en-US"/>
          </a:p>
        </p:txBody>
      </p:sp>
      <p:sp>
        <p:nvSpPr>
          <p:cNvPr id="11" name="Text 9"/>
          <p:cNvSpPr/>
          <p:nvPr/>
        </p:nvSpPr>
        <p:spPr>
          <a:xfrm>
            <a:off x="9171431" y="2112264"/>
            <a:ext cx="1550997" cy="320040"/>
          </a:xfrm>
          <a:prstGeom prst="rect">
            <a:avLst/>
          </a:prstGeom>
          <a:noFill/>
          <a:ln/>
        </p:spPr>
        <p:txBody>
          <a:bodyPr wrap="square" lIns="0" tIns="0" rIns="0" bIns="0" rtlCol="0" anchor="ctr"/>
          <a:lstStyle/>
          <a:p>
            <a:pPr marL="0" indent="0">
              <a:buNone/>
            </a:pPr>
            <a:r>
              <a:rPr lang="en-US" sz="1800" b="1" dirty="0">
                <a:solidFill>
                  <a:srgbClr val="16C60C"/>
                </a:solidFill>
              </a:rPr>
              <a:t>Responsive</a:t>
            </a:r>
            <a:endParaRPr lang="en-US" sz="1800" dirty="0"/>
          </a:p>
        </p:txBody>
      </p:sp>
      <p:sp>
        <p:nvSpPr>
          <p:cNvPr id="12" name="Text 10"/>
          <p:cNvSpPr/>
          <p:nvPr/>
        </p:nvSpPr>
        <p:spPr>
          <a:xfrm>
            <a:off x="9171432" y="2532888"/>
            <a:ext cx="1691640" cy="347472"/>
          </a:xfrm>
          <a:prstGeom prst="rect">
            <a:avLst/>
          </a:prstGeom>
          <a:noFill/>
          <a:ln/>
        </p:spPr>
        <p:txBody>
          <a:bodyPr wrap="square" lIns="0" tIns="0" rIns="0" bIns="0" rtlCol="0" anchor="ctr">
            <a:normAutofit/>
          </a:bodyPr>
          <a:lstStyle/>
          <a:p>
            <a:pPr marL="0" indent="0">
              <a:buNone/>
            </a:pPr>
            <a:r>
              <a:rPr lang="en-US" sz="1050" b="1" dirty="0">
                <a:solidFill>
                  <a:srgbClr val="151A17"/>
                </a:solidFill>
              </a:rPr>
              <a:t>2.25</a:t>
            </a:r>
            <a:endParaRPr lang="en-US" sz="1050" dirty="0"/>
          </a:p>
        </p:txBody>
      </p:sp>
      <p:sp>
        <p:nvSpPr>
          <p:cNvPr id="13" name="Shape 11"/>
          <p:cNvSpPr/>
          <p:nvPr/>
        </p:nvSpPr>
        <p:spPr>
          <a:xfrm>
            <a:off x="6720840" y="3383280"/>
            <a:ext cx="2057400" cy="1143000"/>
          </a:xfrm>
          <a:prstGeom prst="roundRect">
            <a:avLst>
              <a:gd name="adj" fmla="val 6400"/>
            </a:avLst>
          </a:prstGeom>
          <a:solidFill>
            <a:srgbClr val="FFFFFF"/>
          </a:solidFill>
          <a:ln w="12700">
            <a:solidFill>
              <a:srgbClr val="DCE1DD"/>
            </a:solidFill>
            <a:prstDash val="solid"/>
          </a:ln>
        </p:spPr>
        <p:txBody>
          <a:bodyPr/>
          <a:lstStyle/>
          <a:p>
            <a:endParaRPr lang="en-US"/>
          </a:p>
        </p:txBody>
      </p:sp>
      <p:sp>
        <p:nvSpPr>
          <p:cNvPr id="14" name="Text 12"/>
          <p:cNvSpPr/>
          <p:nvPr/>
        </p:nvSpPr>
        <p:spPr>
          <a:xfrm>
            <a:off x="6885432" y="3529584"/>
            <a:ext cx="1892808" cy="320040"/>
          </a:xfrm>
          <a:prstGeom prst="rect">
            <a:avLst/>
          </a:prstGeom>
          <a:noFill/>
          <a:ln/>
        </p:spPr>
        <p:txBody>
          <a:bodyPr wrap="square" lIns="0" tIns="0" rIns="0" bIns="0" rtlCol="0" anchor="ctr"/>
          <a:lstStyle/>
          <a:p>
            <a:pPr marL="0" indent="0">
              <a:buNone/>
            </a:pPr>
            <a:r>
              <a:rPr lang="en-US" sz="1800" b="1" dirty="0">
                <a:solidFill>
                  <a:srgbClr val="16C60C"/>
                </a:solidFill>
              </a:rPr>
              <a:t>Collaborative</a:t>
            </a:r>
            <a:endParaRPr lang="en-US" sz="1800" dirty="0"/>
          </a:p>
        </p:txBody>
      </p:sp>
      <p:sp>
        <p:nvSpPr>
          <p:cNvPr id="15" name="Text 13"/>
          <p:cNvSpPr/>
          <p:nvPr/>
        </p:nvSpPr>
        <p:spPr>
          <a:xfrm>
            <a:off x="6885432" y="3950208"/>
            <a:ext cx="1691640" cy="347472"/>
          </a:xfrm>
          <a:prstGeom prst="rect">
            <a:avLst/>
          </a:prstGeom>
          <a:noFill/>
          <a:ln/>
        </p:spPr>
        <p:txBody>
          <a:bodyPr wrap="square" lIns="0" tIns="0" rIns="0" bIns="0" rtlCol="0" anchor="ctr">
            <a:normAutofit/>
          </a:bodyPr>
          <a:lstStyle/>
          <a:p>
            <a:pPr marL="0" indent="0">
              <a:buNone/>
            </a:pPr>
            <a:r>
              <a:rPr lang="en-US" sz="1050" b="1" dirty="0">
                <a:solidFill>
                  <a:srgbClr val="151A17"/>
                </a:solidFill>
              </a:rPr>
              <a:t>2.25</a:t>
            </a:r>
            <a:endParaRPr lang="en-US" sz="1050" dirty="0"/>
          </a:p>
        </p:txBody>
      </p:sp>
      <p:sp>
        <p:nvSpPr>
          <p:cNvPr id="16" name="Shape 14"/>
          <p:cNvSpPr/>
          <p:nvPr/>
        </p:nvSpPr>
        <p:spPr>
          <a:xfrm>
            <a:off x="9006840" y="3383280"/>
            <a:ext cx="2057400" cy="1143000"/>
          </a:xfrm>
          <a:prstGeom prst="roundRect">
            <a:avLst>
              <a:gd name="adj" fmla="val 6400"/>
            </a:avLst>
          </a:prstGeom>
          <a:solidFill>
            <a:srgbClr val="FFFFFF"/>
          </a:solidFill>
          <a:ln w="12700">
            <a:solidFill>
              <a:srgbClr val="DCE1DD"/>
            </a:solidFill>
            <a:prstDash val="solid"/>
          </a:ln>
        </p:spPr>
        <p:txBody>
          <a:bodyPr/>
          <a:lstStyle/>
          <a:p>
            <a:endParaRPr lang="en-US"/>
          </a:p>
        </p:txBody>
      </p:sp>
      <p:sp>
        <p:nvSpPr>
          <p:cNvPr id="17" name="Text 15"/>
          <p:cNvSpPr/>
          <p:nvPr/>
        </p:nvSpPr>
        <p:spPr>
          <a:xfrm>
            <a:off x="9171432" y="3529584"/>
            <a:ext cx="1550996" cy="320040"/>
          </a:xfrm>
          <a:prstGeom prst="rect">
            <a:avLst/>
          </a:prstGeom>
          <a:noFill/>
          <a:ln/>
        </p:spPr>
        <p:txBody>
          <a:bodyPr wrap="square" lIns="0" tIns="0" rIns="0" bIns="0" rtlCol="0" anchor="ctr"/>
          <a:lstStyle/>
          <a:p>
            <a:pPr marL="0" indent="0">
              <a:buNone/>
            </a:pPr>
            <a:r>
              <a:rPr lang="en-US" sz="1800" b="1" dirty="0">
                <a:solidFill>
                  <a:srgbClr val="16C60C"/>
                </a:solidFill>
              </a:rPr>
              <a:t>Delivery-led</a:t>
            </a:r>
            <a:endParaRPr lang="en-US" sz="1800" dirty="0"/>
          </a:p>
        </p:txBody>
      </p:sp>
      <p:sp>
        <p:nvSpPr>
          <p:cNvPr id="18" name="Text 16"/>
          <p:cNvSpPr/>
          <p:nvPr/>
        </p:nvSpPr>
        <p:spPr>
          <a:xfrm>
            <a:off x="9171432" y="3950208"/>
            <a:ext cx="1691640" cy="347472"/>
          </a:xfrm>
          <a:prstGeom prst="rect">
            <a:avLst/>
          </a:prstGeom>
          <a:noFill/>
          <a:ln/>
        </p:spPr>
        <p:txBody>
          <a:bodyPr wrap="square" lIns="0" tIns="0" rIns="0" bIns="0" rtlCol="0" anchor="ctr">
            <a:normAutofit/>
          </a:bodyPr>
          <a:lstStyle/>
          <a:p>
            <a:pPr marL="0" indent="0">
              <a:buNone/>
            </a:pPr>
            <a:r>
              <a:rPr lang="en-US" sz="1050" b="1" dirty="0">
                <a:solidFill>
                  <a:srgbClr val="151A17"/>
                </a:solidFill>
              </a:rPr>
              <a:t>2.25</a:t>
            </a:r>
            <a:endParaRPr lang="en-US" sz="1050" dirty="0"/>
          </a:p>
        </p:txBody>
      </p:sp>
      <p:sp>
        <p:nvSpPr>
          <p:cNvPr id="19" name="Text 17"/>
          <p:cNvSpPr/>
          <p:nvPr/>
        </p:nvSpPr>
        <p:spPr>
          <a:xfrm>
            <a:off x="6720840" y="4983480"/>
            <a:ext cx="4343400" cy="411480"/>
          </a:xfrm>
          <a:prstGeom prst="rect">
            <a:avLst/>
          </a:prstGeom>
          <a:noFill/>
          <a:ln/>
        </p:spPr>
        <p:txBody>
          <a:bodyPr wrap="square" lIns="0" tIns="0" rIns="0" bIns="0" rtlCol="0" anchor="ctr"/>
          <a:lstStyle/>
          <a:p>
            <a:pPr marL="0" indent="0" algn="ctr">
              <a:buNone/>
            </a:pPr>
            <a:r>
              <a:rPr lang="en-US" sz="1300" b="1" dirty="0">
                <a:solidFill>
                  <a:srgbClr val="151A17"/>
                </a:solidFill>
              </a:rPr>
              <a:t>Over 90% first-time approval success on relevant submissions*</a:t>
            </a:r>
            <a:endParaRPr lang="en-US" sz="1300" dirty="0"/>
          </a:p>
        </p:txBody>
      </p:sp>
      <p:sp>
        <p:nvSpPr>
          <p:cNvPr id="20" name="Text 18"/>
          <p:cNvSpPr/>
          <p:nvPr/>
        </p:nvSpPr>
        <p:spPr>
          <a:xfrm>
            <a:off x="6720840" y="5440680"/>
            <a:ext cx="4343400" cy="228600"/>
          </a:xfrm>
          <a:prstGeom prst="rect">
            <a:avLst/>
          </a:prstGeom>
          <a:noFill/>
          <a:ln/>
        </p:spPr>
        <p:txBody>
          <a:bodyPr wrap="square" lIns="0" tIns="0" rIns="0" bIns="0" rtlCol="0" anchor="ctr"/>
          <a:lstStyle/>
          <a:p>
            <a:pPr marL="0" indent="0" algn="ctr">
              <a:buNone/>
            </a:pPr>
            <a:r>
              <a:rPr lang="en-US" sz="800" dirty="0">
                <a:solidFill>
                  <a:srgbClr val="6F7771"/>
                </a:solidFill>
              </a:rPr>
              <a:t>*Based on project experience and submissions to date.</a:t>
            </a:r>
            <a:endParaRPr lang="en-US" sz="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OUR APPROACH</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Advice that is practical, proportionate and buildable.</a:t>
            </a:r>
            <a:endParaRPr lang="en-US" sz="2800" dirty="0"/>
          </a:p>
        </p:txBody>
      </p:sp>
      <p:sp>
        <p:nvSpPr>
          <p:cNvPr id="4" name="Shape 2"/>
          <p:cNvSpPr/>
          <p:nvPr/>
        </p:nvSpPr>
        <p:spPr>
          <a:xfrm>
            <a:off x="685800" y="2148840"/>
            <a:ext cx="1874520" cy="2423160"/>
          </a:xfrm>
          <a:prstGeom prst="roundRect">
            <a:avLst>
              <a:gd name="adj" fmla="val 2439"/>
            </a:avLst>
          </a:prstGeom>
          <a:solidFill>
            <a:srgbClr val="F1F4F2"/>
          </a:solidFill>
          <a:ln w="12700">
            <a:solidFill>
              <a:srgbClr val="DDE2DE"/>
            </a:solidFill>
            <a:prstDash val="solid"/>
          </a:ln>
        </p:spPr>
        <p:txBody>
          <a:bodyPr/>
          <a:lstStyle/>
          <a:p>
            <a:endParaRPr lang="en-US"/>
          </a:p>
        </p:txBody>
      </p:sp>
      <p:sp>
        <p:nvSpPr>
          <p:cNvPr id="5" name="Text 3"/>
          <p:cNvSpPr/>
          <p:nvPr/>
        </p:nvSpPr>
        <p:spPr>
          <a:xfrm>
            <a:off x="822960" y="2331720"/>
            <a:ext cx="411480" cy="274320"/>
          </a:xfrm>
          <a:prstGeom prst="rect">
            <a:avLst/>
          </a:prstGeom>
          <a:noFill/>
          <a:ln/>
        </p:spPr>
        <p:txBody>
          <a:bodyPr wrap="square" lIns="0" tIns="0" rIns="0" bIns="0" rtlCol="0" anchor="ctr"/>
          <a:lstStyle/>
          <a:p>
            <a:pPr marL="0" indent="0">
              <a:buNone/>
            </a:pPr>
            <a:r>
              <a:rPr lang="en-US" sz="1500" b="1" dirty="0">
                <a:solidFill>
                  <a:srgbClr val="16C60C"/>
                </a:solidFill>
              </a:rPr>
              <a:t>01</a:t>
            </a:r>
            <a:endParaRPr lang="en-US" sz="1500" dirty="0"/>
          </a:p>
        </p:txBody>
      </p:sp>
      <p:sp>
        <p:nvSpPr>
          <p:cNvPr id="6" name="Text 4"/>
          <p:cNvSpPr/>
          <p:nvPr/>
        </p:nvSpPr>
        <p:spPr>
          <a:xfrm>
            <a:off x="822960" y="2834640"/>
            <a:ext cx="1554480" cy="365760"/>
          </a:xfrm>
          <a:prstGeom prst="rect">
            <a:avLst/>
          </a:prstGeom>
          <a:noFill/>
          <a:ln/>
        </p:spPr>
        <p:txBody>
          <a:bodyPr wrap="square" lIns="0" tIns="0" rIns="0" bIns="0" rtlCol="0" anchor="ctr"/>
          <a:lstStyle/>
          <a:p>
            <a:pPr marL="0" indent="0">
              <a:buNone/>
            </a:pPr>
            <a:r>
              <a:rPr lang="en-US" sz="1400" b="1" dirty="0">
                <a:solidFill>
                  <a:srgbClr val="151A17"/>
                </a:solidFill>
              </a:rPr>
              <a:t>Understand</a:t>
            </a:r>
            <a:endParaRPr lang="en-US" sz="1400" dirty="0"/>
          </a:p>
        </p:txBody>
      </p:sp>
      <p:sp>
        <p:nvSpPr>
          <p:cNvPr id="7" name="Text 5"/>
          <p:cNvSpPr/>
          <p:nvPr/>
        </p:nvSpPr>
        <p:spPr>
          <a:xfrm>
            <a:off x="822960" y="3383280"/>
            <a:ext cx="1572768" cy="868680"/>
          </a:xfrm>
          <a:prstGeom prst="rect">
            <a:avLst/>
          </a:prstGeom>
          <a:noFill/>
          <a:ln/>
        </p:spPr>
        <p:txBody>
          <a:bodyPr wrap="square" lIns="0" tIns="0" rIns="0" bIns="0" rtlCol="0" anchor="ctr">
            <a:normAutofit/>
          </a:bodyPr>
          <a:lstStyle/>
          <a:p>
            <a:pPr marL="0" indent="0">
              <a:buNone/>
            </a:pPr>
            <a:r>
              <a:rPr lang="en-US" sz="1000" dirty="0">
                <a:solidFill>
                  <a:srgbClr val="6F7771"/>
                </a:solidFill>
              </a:rPr>
              <a:t>Planning conditions, site constraints, programme and stakeholders.</a:t>
            </a:r>
            <a:endParaRPr lang="en-US" sz="1000" dirty="0"/>
          </a:p>
        </p:txBody>
      </p:sp>
      <p:sp>
        <p:nvSpPr>
          <p:cNvPr id="8" name="Shape 6"/>
          <p:cNvSpPr/>
          <p:nvPr/>
        </p:nvSpPr>
        <p:spPr>
          <a:xfrm>
            <a:off x="2587752" y="2971800"/>
            <a:ext cx="274320" cy="502920"/>
          </a:xfrm>
          <a:prstGeom prst="chevron">
            <a:avLst/>
          </a:prstGeom>
          <a:solidFill>
            <a:srgbClr val="B7DBB4"/>
          </a:solidFill>
          <a:ln w="12700">
            <a:solidFill>
              <a:srgbClr val="B7DBB4"/>
            </a:solidFill>
            <a:prstDash val="solid"/>
          </a:ln>
        </p:spPr>
        <p:txBody>
          <a:bodyPr/>
          <a:lstStyle/>
          <a:p>
            <a:endParaRPr lang="en-US"/>
          </a:p>
        </p:txBody>
      </p:sp>
      <p:sp>
        <p:nvSpPr>
          <p:cNvPr id="9" name="Shape 7"/>
          <p:cNvSpPr/>
          <p:nvPr/>
        </p:nvSpPr>
        <p:spPr>
          <a:xfrm>
            <a:off x="2944368" y="2148840"/>
            <a:ext cx="1874520" cy="2423160"/>
          </a:xfrm>
          <a:prstGeom prst="roundRect">
            <a:avLst>
              <a:gd name="adj" fmla="val 2439"/>
            </a:avLst>
          </a:prstGeom>
          <a:solidFill>
            <a:srgbClr val="FFFFFF"/>
          </a:solidFill>
          <a:ln w="12700">
            <a:solidFill>
              <a:srgbClr val="DDE2DE"/>
            </a:solidFill>
            <a:prstDash val="solid"/>
          </a:ln>
        </p:spPr>
        <p:txBody>
          <a:bodyPr/>
          <a:lstStyle/>
          <a:p>
            <a:endParaRPr lang="en-US"/>
          </a:p>
        </p:txBody>
      </p:sp>
      <p:sp>
        <p:nvSpPr>
          <p:cNvPr id="10" name="Text 8"/>
          <p:cNvSpPr/>
          <p:nvPr/>
        </p:nvSpPr>
        <p:spPr>
          <a:xfrm>
            <a:off x="3081528" y="2331720"/>
            <a:ext cx="411480" cy="274320"/>
          </a:xfrm>
          <a:prstGeom prst="rect">
            <a:avLst/>
          </a:prstGeom>
          <a:noFill/>
          <a:ln/>
        </p:spPr>
        <p:txBody>
          <a:bodyPr wrap="square" lIns="0" tIns="0" rIns="0" bIns="0" rtlCol="0" anchor="ctr"/>
          <a:lstStyle/>
          <a:p>
            <a:pPr marL="0" indent="0">
              <a:buNone/>
            </a:pPr>
            <a:r>
              <a:rPr lang="en-US" sz="1500" b="1" dirty="0">
                <a:solidFill>
                  <a:srgbClr val="16C60C"/>
                </a:solidFill>
              </a:rPr>
              <a:t>02</a:t>
            </a:r>
            <a:endParaRPr lang="en-US" sz="1500" dirty="0"/>
          </a:p>
        </p:txBody>
      </p:sp>
      <p:sp>
        <p:nvSpPr>
          <p:cNvPr id="11" name="Text 9"/>
          <p:cNvSpPr/>
          <p:nvPr/>
        </p:nvSpPr>
        <p:spPr>
          <a:xfrm>
            <a:off x="3081528" y="2834640"/>
            <a:ext cx="1554480" cy="365760"/>
          </a:xfrm>
          <a:prstGeom prst="rect">
            <a:avLst/>
          </a:prstGeom>
          <a:noFill/>
          <a:ln/>
        </p:spPr>
        <p:txBody>
          <a:bodyPr wrap="square" lIns="0" tIns="0" rIns="0" bIns="0" rtlCol="0" anchor="ctr"/>
          <a:lstStyle/>
          <a:p>
            <a:pPr marL="0" indent="0">
              <a:buNone/>
            </a:pPr>
            <a:r>
              <a:rPr lang="en-US" sz="1400" b="1" dirty="0">
                <a:solidFill>
                  <a:srgbClr val="151A17"/>
                </a:solidFill>
              </a:rPr>
              <a:t>Test</a:t>
            </a:r>
            <a:endParaRPr lang="en-US" sz="1400" dirty="0"/>
          </a:p>
        </p:txBody>
      </p:sp>
      <p:sp>
        <p:nvSpPr>
          <p:cNvPr id="12" name="Text 10"/>
          <p:cNvSpPr/>
          <p:nvPr/>
        </p:nvSpPr>
        <p:spPr>
          <a:xfrm>
            <a:off x="3081528" y="3383280"/>
            <a:ext cx="1572768" cy="868680"/>
          </a:xfrm>
          <a:prstGeom prst="rect">
            <a:avLst/>
          </a:prstGeom>
          <a:noFill/>
          <a:ln/>
        </p:spPr>
        <p:txBody>
          <a:bodyPr wrap="square" lIns="0" tIns="0" rIns="0" bIns="0" rtlCol="0" anchor="ctr">
            <a:normAutofit/>
          </a:bodyPr>
          <a:lstStyle/>
          <a:p>
            <a:pPr marL="0" indent="0">
              <a:buNone/>
            </a:pPr>
            <a:r>
              <a:rPr lang="en-US" sz="1000" dirty="0">
                <a:solidFill>
                  <a:srgbClr val="6F7771"/>
                </a:solidFill>
              </a:rPr>
              <a:t>Access, vehicle movements, servicing, phasing and temporary arrangements.</a:t>
            </a:r>
            <a:endParaRPr lang="en-US" sz="1000" dirty="0"/>
          </a:p>
        </p:txBody>
      </p:sp>
      <p:sp>
        <p:nvSpPr>
          <p:cNvPr id="13" name="Shape 11"/>
          <p:cNvSpPr/>
          <p:nvPr/>
        </p:nvSpPr>
        <p:spPr>
          <a:xfrm>
            <a:off x="4846320" y="2971800"/>
            <a:ext cx="274320" cy="502920"/>
          </a:xfrm>
          <a:prstGeom prst="chevron">
            <a:avLst/>
          </a:prstGeom>
          <a:solidFill>
            <a:srgbClr val="B7DBB4"/>
          </a:solidFill>
          <a:ln w="12700">
            <a:solidFill>
              <a:srgbClr val="B7DBB4"/>
            </a:solidFill>
            <a:prstDash val="solid"/>
          </a:ln>
        </p:spPr>
        <p:txBody>
          <a:bodyPr/>
          <a:lstStyle/>
          <a:p>
            <a:endParaRPr lang="en-US"/>
          </a:p>
        </p:txBody>
      </p:sp>
      <p:sp>
        <p:nvSpPr>
          <p:cNvPr id="14" name="Shape 12"/>
          <p:cNvSpPr/>
          <p:nvPr/>
        </p:nvSpPr>
        <p:spPr>
          <a:xfrm>
            <a:off x="5202936" y="2148840"/>
            <a:ext cx="1874520" cy="2423160"/>
          </a:xfrm>
          <a:prstGeom prst="roundRect">
            <a:avLst>
              <a:gd name="adj" fmla="val 2439"/>
            </a:avLst>
          </a:prstGeom>
          <a:solidFill>
            <a:srgbClr val="F1F4F2"/>
          </a:solidFill>
          <a:ln w="12700">
            <a:solidFill>
              <a:srgbClr val="DDE2DE"/>
            </a:solidFill>
            <a:prstDash val="solid"/>
          </a:ln>
        </p:spPr>
        <p:txBody>
          <a:bodyPr/>
          <a:lstStyle/>
          <a:p>
            <a:endParaRPr lang="en-US"/>
          </a:p>
        </p:txBody>
      </p:sp>
      <p:sp>
        <p:nvSpPr>
          <p:cNvPr id="15" name="Text 13"/>
          <p:cNvSpPr/>
          <p:nvPr/>
        </p:nvSpPr>
        <p:spPr>
          <a:xfrm>
            <a:off x="5340096" y="2331720"/>
            <a:ext cx="411480" cy="274320"/>
          </a:xfrm>
          <a:prstGeom prst="rect">
            <a:avLst/>
          </a:prstGeom>
          <a:noFill/>
          <a:ln/>
        </p:spPr>
        <p:txBody>
          <a:bodyPr wrap="square" lIns="0" tIns="0" rIns="0" bIns="0" rtlCol="0" anchor="ctr"/>
          <a:lstStyle/>
          <a:p>
            <a:pPr marL="0" indent="0">
              <a:buNone/>
            </a:pPr>
            <a:r>
              <a:rPr lang="en-US" sz="1500" b="1" dirty="0">
                <a:solidFill>
                  <a:srgbClr val="16C60C"/>
                </a:solidFill>
              </a:rPr>
              <a:t>03</a:t>
            </a:r>
            <a:endParaRPr lang="en-US" sz="1500" dirty="0"/>
          </a:p>
        </p:txBody>
      </p:sp>
      <p:sp>
        <p:nvSpPr>
          <p:cNvPr id="16" name="Text 14"/>
          <p:cNvSpPr/>
          <p:nvPr/>
        </p:nvSpPr>
        <p:spPr>
          <a:xfrm>
            <a:off x="5340096" y="2834640"/>
            <a:ext cx="1554480" cy="365760"/>
          </a:xfrm>
          <a:prstGeom prst="rect">
            <a:avLst/>
          </a:prstGeom>
          <a:noFill/>
          <a:ln/>
        </p:spPr>
        <p:txBody>
          <a:bodyPr wrap="square" lIns="0" tIns="0" rIns="0" bIns="0" rtlCol="0" anchor="ctr"/>
          <a:lstStyle/>
          <a:p>
            <a:pPr marL="0" indent="0">
              <a:buNone/>
            </a:pPr>
            <a:r>
              <a:rPr lang="en-US" sz="1400" b="1" dirty="0">
                <a:solidFill>
                  <a:srgbClr val="151A17"/>
                </a:solidFill>
              </a:rPr>
              <a:t>Coordinate</a:t>
            </a:r>
            <a:endParaRPr lang="en-US" sz="1400" dirty="0"/>
          </a:p>
        </p:txBody>
      </p:sp>
      <p:sp>
        <p:nvSpPr>
          <p:cNvPr id="17" name="Text 15"/>
          <p:cNvSpPr/>
          <p:nvPr/>
        </p:nvSpPr>
        <p:spPr>
          <a:xfrm>
            <a:off x="5340096" y="3383280"/>
            <a:ext cx="1572768" cy="868680"/>
          </a:xfrm>
          <a:prstGeom prst="rect">
            <a:avLst/>
          </a:prstGeom>
          <a:noFill/>
          <a:ln/>
        </p:spPr>
        <p:txBody>
          <a:bodyPr wrap="square" lIns="0" tIns="0" rIns="0" bIns="0" rtlCol="0" anchor="ctr">
            <a:normAutofit/>
          </a:bodyPr>
          <a:lstStyle/>
          <a:p>
            <a:pPr marL="0" indent="0">
              <a:buNone/>
            </a:pPr>
            <a:r>
              <a:rPr lang="en-US" sz="1000" dirty="0">
                <a:solidFill>
                  <a:srgbClr val="6F7771"/>
                </a:solidFill>
              </a:rPr>
              <a:t>Align the logistics strategy with design, planning and construction methodology.</a:t>
            </a:r>
            <a:endParaRPr lang="en-US" sz="1000" dirty="0"/>
          </a:p>
        </p:txBody>
      </p:sp>
      <p:sp>
        <p:nvSpPr>
          <p:cNvPr id="18" name="Shape 16"/>
          <p:cNvSpPr/>
          <p:nvPr/>
        </p:nvSpPr>
        <p:spPr>
          <a:xfrm>
            <a:off x="7104888" y="2971800"/>
            <a:ext cx="274320" cy="502920"/>
          </a:xfrm>
          <a:prstGeom prst="chevron">
            <a:avLst/>
          </a:prstGeom>
          <a:solidFill>
            <a:srgbClr val="B7DBB4"/>
          </a:solidFill>
          <a:ln w="12700">
            <a:solidFill>
              <a:srgbClr val="B7DBB4"/>
            </a:solidFill>
            <a:prstDash val="solid"/>
          </a:ln>
        </p:spPr>
        <p:txBody>
          <a:bodyPr/>
          <a:lstStyle/>
          <a:p>
            <a:endParaRPr lang="en-US"/>
          </a:p>
        </p:txBody>
      </p:sp>
      <p:sp>
        <p:nvSpPr>
          <p:cNvPr id="19" name="Shape 17"/>
          <p:cNvSpPr/>
          <p:nvPr/>
        </p:nvSpPr>
        <p:spPr>
          <a:xfrm>
            <a:off x="7461504" y="2148840"/>
            <a:ext cx="1874520" cy="2423160"/>
          </a:xfrm>
          <a:prstGeom prst="roundRect">
            <a:avLst>
              <a:gd name="adj" fmla="val 2439"/>
            </a:avLst>
          </a:prstGeom>
          <a:solidFill>
            <a:srgbClr val="FFFFFF"/>
          </a:solidFill>
          <a:ln w="12700">
            <a:solidFill>
              <a:srgbClr val="DDE2DE"/>
            </a:solidFill>
            <a:prstDash val="solid"/>
          </a:ln>
        </p:spPr>
        <p:txBody>
          <a:bodyPr/>
          <a:lstStyle/>
          <a:p>
            <a:endParaRPr lang="en-US"/>
          </a:p>
        </p:txBody>
      </p:sp>
      <p:sp>
        <p:nvSpPr>
          <p:cNvPr id="20" name="Text 18"/>
          <p:cNvSpPr/>
          <p:nvPr/>
        </p:nvSpPr>
        <p:spPr>
          <a:xfrm>
            <a:off x="7598664" y="2331720"/>
            <a:ext cx="411480" cy="274320"/>
          </a:xfrm>
          <a:prstGeom prst="rect">
            <a:avLst/>
          </a:prstGeom>
          <a:noFill/>
          <a:ln/>
        </p:spPr>
        <p:txBody>
          <a:bodyPr wrap="square" lIns="0" tIns="0" rIns="0" bIns="0" rtlCol="0" anchor="ctr"/>
          <a:lstStyle/>
          <a:p>
            <a:pPr marL="0" indent="0">
              <a:buNone/>
            </a:pPr>
            <a:r>
              <a:rPr lang="en-US" sz="1500" b="1" dirty="0">
                <a:solidFill>
                  <a:srgbClr val="16C60C"/>
                </a:solidFill>
              </a:rPr>
              <a:t>04</a:t>
            </a:r>
            <a:endParaRPr lang="en-US" sz="1500" dirty="0"/>
          </a:p>
        </p:txBody>
      </p:sp>
      <p:sp>
        <p:nvSpPr>
          <p:cNvPr id="21" name="Text 19"/>
          <p:cNvSpPr/>
          <p:nvPr/>
        </p:nvSpPr>
        <p:spPr>
          <a:xfrm>
            <a:off x="7598664" y="2834640"/>
            <a:ext cx="1554480" cy="365760"/>
          </a:xfrm>
          <a:prstGeom prst="rect">
            <a:avLst/>
          </a:prstGeom>
          <a:noFill/>
          <a:ln/>
        </p:spPr>
        <p:txBody>
          <a:bodyPr wrap="square" lIns="0" tIns="0" rIns="0" bIns="0" rtlCol="0" anchor="ctr"/>
          <a:lstStyle/>
          <a:p>
            <a:pPr marL="0" indent="0">
              <a:buNone/>
            </a:pPr>
            <a:r>
              <a:rPr lang="en-US" sz="1400" b="1" dirty="0">
                <a:solidFill>
                  <a:srgbClr val="151A17"/>
                </a:solidFill>
              </a:rPr>
              <a:t>Submit</a:t>
            </a:r>
            <a:endParaRPr lang="en-US" sz="1400" dirty="0"/>
          </a:p>
        </p:txBody>
      </p:sp>
      <p:sp>
        <p:nvSpPr>
          <p:cNvPr id="22" name="Text 20"/>
          <p:cNvSpPr/>
          <p:nvPr/>
        </p:nvSpPr>
        <p:spPr>
          <a:xfrm>
            <a:off x="7598664" y="3383280"/>
            <a:ext cx="1572768" cy="868680"/>
          </a:xfrm>
          <a:prstGeom prst="rect">
            <a:avLst/>
          </a:prstGeom>
          <a:noFill/>
          <a:ln/>
        </p:spPr>
        <p:txBody>
          <a:bodyPr wrap="square" lIns="0" tIns="0" rIns="0" bIns="0" rtlCol="0" anchor="ctr">
            <a:normAutofit/>
          </a:bodyPr>
          <a:lstStyle/>
          <a:p>
            <a:pPr marL="0" indent="0">
              <a:buNone/>
            </a:pPr>
            <a:r>
              <a:rPr lang="en-US" sz="1000" dirty="0">
                <a:solidFill>
                  <a:srgbClr val="6F7771"/>
                </a:solidFill>
              </a:rPr>
              <a:t>Prepare clear technical documentation for client and authority review.</a:t>
            </a:r>
            <a:endParaRPr lang="en-US" sz="1000" dirty="0"/>
          </a:p>
        </p:txBody>
      </p:sp>
      <p:sp>
        <p:nvSpPr>
          <p:cNvPr id="23" name="Shape 21"/>
          <p:cNvSpPr/>
          <p:nvPr/>
        </p:nvSpPr>
        <p:spPr>
          <a:xfrm>
            <a:off x="9363456" y="2971800"/>
            <a:ext cx="274320" cy="502920"/>
          </a:xfrm>
          <a:prstGeom prst="chevron">
            <a:avLst/>
          </a:prstGeom>
          <a:solidFill>
            <a:srgbClr val="B7DBB4"/>
          </a:solidFill>
          <a:ln w="12700">
            <a:solidFill>
              <a:srgbClr val="B7DBB4"/>
            </a:solidFill>
            <a:prstDash val="solid"/>
          </a:ln>
        </p:spPr>
        <p:txBody>
          <a:bodyPr/>
          <a:lstStyle/>
          <a:p>
            <a:endParaRPr lang="en-US"/>
          </a:p>
        </p:txBody>
      </p:sp>
      <p:sp>
        <p:nvSpPr>
          <p:cNvPr id="24" name="Shape 22"/>
          <p:cNvSpPr/>
          <p:nvPr/>
        </p:nvSpPr>
        <p:spPr>
          <a:xfrm>
            <a:off x="9720072" y="2148840"/>
            <a:ext cx="1874520" cy="2423160"/>
          </a:xfrm>
          <a:prstGeom prst="roundRect">
            <a:avLst>
              <a:gd name="adj" fmla="val 2439"/>
            </a:avLst>
          </a:prstGeom>
          <a:solidFill>
            <a:srgbClr val="F1F4F2"/>
          </a:solidFill>
          <a:ln w="12700">
            <a:solidFill>
              <a:srgbClr val="DDE2DE"/>
            </a:solidFill>
            <a:prstDash val="solid"/>
          </a:ln>
        </p:spPr>
        <p:txBody>
          <a:bodyPr/>
          <a:lstStyle/>
          <a:p>
            <a:endParaRPr lang="en-US"/>
          </a:p>
        </p:txBody>
      </p:sp>
      <p:sp>
        <p:nvSpPr>
          <p:cNvPr id="25" name="Text 23"/>
          <p:cNvSpPr/>
          <p:nvPr/>
        </p:nvSpPr>
        <p:spPr>
          <a:xfrm>
            <a:off x="9857232" y="2331720"/>
            <a:ext cx="411480" cy="274320"/>
          </a:xfrm>
          <a:prstGeom prst="rect">
            <a:avLst/>
          </a:prstGeom>
          <a:noFill/>
          <a:ln/>
        </p:spPr>
        <p:txBody>
          <a:bodyPr wrap="square" lIns="0" tIns="0" rIns="0" bIns="0" rtlCol="0" anchor="ctr"/>
          <a:lstStyle/>
          <a:p>
            <a:pPr marL="0" indent="0">
              <a:buNone/>
            </a:pPr>
            <a:r>
              <a:rPr lang="en-US" sz="1500" b="1" dirty="0">
                <a:solidFill>
                  <a:srgbClr val="16C60C"/>
                </a:solidFill>
              </a:rPr>
              <a:t>05</a:t>
            </a:r>
            <a:endParaRPr lang="en-US" sz="1500" dirty="0"/>
          </a:p>
        </p:txBody>
      </p:sp>
      <p:sp>
        <p:nvSpPr>
          <p:cNvPr id="26" name="Text 24"/>
          <p:cNvSpPr/>
          <p:nvPr/>
        </p:nvSpPr>
        <p:spPr>
          <a:xfrm>
            <a:off x="9857232" y="2834640"/>
            <a:ext cx="1554480" cy="365760"/>
          </a:xfrm>
          <a:prstGeom prst="rect">
            <a:avLst/>
          </a:prstGeom>
          <a:noFill/>
          <a:ln/>
        </p:spPr>
        <p:txBody>
          <a:bodyPr wrap="square" lIns="0" tIns="0" rIns="0" bIns="0" rtlCol="0" anchor="ctr"/>
          <a:lstStyle/>
          <a:p>
            <a:pPr marL="0" indent="0">
              <a:buNone/>
            </a:pPr>
            <a:r>
              <a:rPr lang="en-US" sz="1400" b="1" dirty="0">
                <a:solidFill>
                  <a:srgbClr val="151A17"/>
                </a:solidFill>
              </a:rPr>
              <a:t>Close out</a:t>
            </a:r>
            <a:endParaRPr lang="en-US" sz="1400" dirty="0"/>
          </a:p>
        </p:txBody>
      </p:sp>
      <p:sp>
        <p:nvSpPr>
          <p:cNvPr id="27" name="Text 25"/>
          <p:cNvSpPr/>
          <p:nvPr/>
        </p:nvSpPr>
        <p:spPr>
          <a:xfrm>
            <a:off x="9857232" y="3383280"/>
            <a:ext cx="1572768" cy="868680"/>
          </a:xfrm>
          <a:prstGeom prst="rect">
            <a:avLst/>
          </a:prstGeom>
          <a:noFill/>
          <a:ln/>
        </p:spPr>
        <p:txBody>
          <a:bodyPr wrap="square" lIns="0" tIns="0" rIns="0" bIns="0" rtlCol="0" anchor="ctr">
            <a:normAutofit/>
          </a:bodyPr>
          <a:lstStyle/>
          <a:p>
            <a:pPr marL="0" indent="0">
              <a:buNone/>
            </a:pPr>
            <a:r>
              <a:rPr lang="en-US" sz="1000" dirty="0">
                <a:solidFill>
                  <a:srgbClr val="6F7771"/>
                </a:solidFill>
              </a:rPr>
              <a:t>Respond quickly to comments and support condition discharge / approval.</a:t>
            </a:r>
            <a:endParaRPr lang="en-US" sz="1000" dirty="0"/>
          </a:p>
        </p:txBody>
      </p:sp>
      <p:sp>
        <p:nvSpPr>
          <p:cNvPr id="28" name="Text 26"/>
          <p:cNvSpPr/>
          <p:nvPr/>
        </p:nvSpPr>
        <p:spPr>
          <a:xfrm>
            <a:off x="914400" y="5074920"/>
            <a:ext cx="10332720" cy="502920"/>
          </a:xfrm>
          <a:prstGeom prst="rect">
            <a:avLst/>
          </a:prstGeom>
          <a:noFill/>
          <a:ln/>
        </p:spPr>
        <p:txBody>
          <a:bodyPr wrap="square" lIns="0" tIns="0" rIns="0" bIns="0" rtlCol="0" anchor="ctr">
            <a:normAutofit/>
          </a:bodyPr>
          <a:lstStyle/>
          <a:p>
            <a:pPr marL="0" indent="0" algn="ctr">
              <a:buNone/>
            </a:pPr>
            <a:r>
              <a:rPr lang="en-US" sz="1150" b="1" dirty="0">
                <a:solidFill>
                  <a:srgbClr val="151A17"/>
                </a:solidFill>
              </a:rPr>
              <a:t>Hands-on involvement | Agile response | Early risk identification | Effective stakeholder engagement | Cost-conscious solutions</a:t>
            </a:r>
            <a:endParaRPr lang="en-US" sz="1150" dirty="0"/>
          </a:p>
        </p:txBody>
      </p:sp>
      <p:sp>
        <p:nvSpPr>
          <p:cNvPr id="29"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LEADERSHIP</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Experienced across planning, pre-construction and delivery.</a:t>
            </a:r>
            <a:endParaRPr lang="en-US" sz="2800" dirty="0"/>
          </a:p>
        </p:txBody>
      </p:sp>
      <p:sp>
        <p:nvSpPr>
          <p:cNvPr id="4" name="Shape 2"/>
          <p:cNvSpPr/>
          <p:nvPr/>
        </p:nvSpPr>
        <p:spPr>
          <a:xfrm>
            <a:off x="731520" y="1685108"/>
            <a:ext cx="1920240" cy="1920240"/>
          </a:xfrm>
          <a:prstGeom prst="ellipse">
            <a:avLst/>
          </a:prstGeom>
          <a:solidFill>
            <a:srgbClr val="E7EAE8"/>
          </a:solidFill>
          <a:ln w="12700">
            <a:solidFill>
              <a:srgbClr val="D0D6D1"/>
            </a:solidFill>
            <a:prstDash val="solid"/>
          </a:ln>
        </p:spPr>
        <p:txBody>
          <a:bodyPr/>
          <a:lstStyle/>
          <a:p>
            <a:endParaRPr lang="en-US" dirty="0"/>
          </a:p>
        </p:txBody>
      </p:sp>
      <p:sp>
        <p:nvSpPr>
          <p:cNvPr id="5" name="Text 3"/>
          <p:cNvSpPr/>
          <p:nvPr/>
        </p:nvSpPr>
        <p:spPr>
          <a:xfrm>
            <a:off x="6968671" y="1714499"/>
            <a:ext cx="914400" cy="502920"/>
          </a:xfrm>
          <a:prstGeom prst="rect">
            <a:avLst/>
          </a:prstGeom>
          <a:noFill/>
          <a:ln/>
        </p:spPr>
        <p:txBody>
          <a:bodyPr wrap="square" lIns="0" tIns="0" rIns="0" bIns="0" rtlCol="0" anchor="ctr"/>
          <a:lstStyle/>
          <a:p>
            <a:pPr marL="0" indent="0" algn="ctr">
              <a:buNone/>
            </a:pPr>
            <a:r>
              <a:rPr lang="en-US" sz="3000" b="1" dirty="0">
                <a:solidFill>
                  <a:srgbClr val="16C60C"/>
                </a:solidFill>
              </a:rPr>
              <a:t>KA</a:t>
            </a:r>
            <a:endParaRPr lang="en-US" sz="3000" dirty="0"/>
          </a:p>
        </p:txBody>
      </p:sp>
      <p:sp>
        <p:nvSpPr>
          <p:cNvPr id="6" name="Text 4"/>
          <p:cNvSpPr/>
          <p:nvPr/>
        </p:nvSpPr>
        <p:spPr>
          <a:xfrm>
            <a:off x="3017520" y="1828800"/>
            <a:ext cx="3657600" cy="411480"/>
          </a:xfrm>
          <a:prstGeom prst="rect">
            <a:avLst/>
          </a:prstGeom>
          <a:noFill/>
          <a:ln/>
        </p:spPr>
        <p:txBody>
          <a:bodyPr wrap="square" lIns="0" tIns="0" rIns="0" bIns="0" rtlCol="0" anchor="ctr"/>
          <a:lstStyle/>
          <a:p>
            <a:pPr marL="0" indent="0">
              <a:buNone/>
            </a:pPr>
            <a:r>
              <a:rPr lang="en-US" sz="2200" b="1" dirty="0">
                <a:solidFill>
                  <a:srgbClr val="151A17"/>
                </a:solidFill>
              </a:rPr>
              <a:t>Kaysar Alim</a:t>
            </a:r>
            <a:endParaRPr lang="en-US" sz="2200" dirty="0"/>
          </a:p>
        </p:txBody>
      </p:sp>
      <p:sp>
        <p:nvSpPr>
          <p:cNvPr id="7" name="Text 5"/>
          <p:cNvSpPr/>
          <p:nvPr/>
        </p:nvSpPr>
        <p:spPr>
          <a:xfrm>
            <a:off x="3017520" y="2331720"/>
            <a:ext cx="4754880" cy="320040"/>
          </a:xfrm>
          <a:prstGeom prst="rect">
            <a:avLst/>
          </a:prstGeom>
          <a:noFill/>
          <a:ln/>
        </p:spPr>
        <p:txBody>
          <a:bodyPr wrap="square" lIns="0" tIns="0" rIns="0" bIns="0" rtlCol="0" anchor="ctr"/>
          <a:lstStyle/>
          <a:p>
            <a:pPr marL="0" indent="0">
              <a:buNone/>
            </a:pPr>
            <a:r>
              <a:rPr lang="en-US" sz="1200" b="1" dirty="0">
                <a:solidFill>
                  <a:srgbClr val="16C60C"/>
                </a:solidFill>
              </a:rPr>
              <a:t>Founder | Construction Logistics &amp; Planning Consultant</a:t>
            </a:r>
            <a:endParaRPr lang="en-US" sz="1200" dirty="0"/>
          </a:p>
        </p:txBody>
      </p:sp>
      <p:sp>
        <p:nvSpPr>
          <p:cNvPr id="8" name="Text 6"/>
          <p:cNvSpPr/>
          <p:nvPr/>
        </p:nvSpPr>
        <p:spPr>
          <a:xfrm>
            <a:off x="3017520" y="2880360"/>
            <a:ext cx="7772400" cy="1143000"/>
          </a:xfrm>
          <a:prstGeom prst="rect">
            <a:avLst/>
          </a:prstGeom>
          <a:noFill/>
          <a:ln/>
        </p:spPr>
        <p:txBody>
          <a:bodyPr wrap="square" lIns="0" tIns="0" rIns="0" bIns="0" rtlCol="0" anchor="ctr">
            <a:normAutofit/>
          </a:bodyPr>
          <a:lstStyle/>
          <a:p>
            <a:pPr marL="0" indent="0">
              <a:buNone/>
            </a:pPr>
            <a:r>
              <a:rPr lang="en-US" sz="1350" dirty="0">
                <a:solidFill>
                  <a:srgbClr val="252B27"/>
                </a:solidFill>
              </a:rPr>
              <a:t>A construction logistics and pre-construction professional with experience spanning work winning, planning, construction delivery, stakeholder coordination and major project logistics. This combination allows Kayon to approach planning documentation from a buildability perspective rather than treating each condition in isolation.</a:t>
            </a:r>
            <a:endParaRPr lang="en-US" sz="1350" dirty="0"/>
          </a:p>
        </p:txBody>
      </p:sp>
      <p:sp>
        <p:nvSpPr>
          <p:cNvPr id="9" name="Text 7"/>
          <p:cNvSpPr/>
          <p:nvPr/>
        </p:nvSpPr>
        <p:spPr>
          <a:xfrm>
            <a:off x="3017520" y="4251960"/>
            <a:ext cx="7680960" cy="1417320"/>
          </a:xfrm>
          <a:prstGeom prst="rect">
            <a:avLst/>
          </a:prstGeom>
          <a:noFill/>
          <a:ln/>
        </p:spPr>
        <p:txBody>
          <a:bodyPr wrap="square" lIns="381" tIns="381" rIns="381" bIns="381" rtlCol="0" anchor="ctr">
            <a:normAutofit/>
          </a:bodyPr>
          <a:lstStyle/>
          <a:p>
            <a:pPr marL="177800" indent="-177800">
              <a:buSzPct val="100000"/>
              <a:buChar char="•"/>
            </a:pPr>
            <a:r>
              <a:rPr lang="en-US" sz="1150" dirty="0">
                <a:solidFill>
                  <a:srgbClr val="252B27"/>
                </a:solidFill>
              </a:rPr>
              <a:t>Major commercial, mixed-use, infrastructure and data centre experience</a:t>
            </a:r>
            <a:endParaRPr lang="en-US" sz="1150" dirty="0"/>
          </a:p>
          <a:p>
            <a:pPr marL="177800" indent="-177800">
              <a:buSzPct val="100000"/>
              <a:buChar char="•"/>
            </a:pPr>
            <a:r>
              <a:rPr lang="en-US" sz="1150" dirty="0">
                <a:solidFill>
                  <a:srgbClr val="252B27"/>
                </a:solidFill>
              </a:rPr>
              <a:t>Strong interface knowledge between construction activity and the public highway</a:t>
            </a:r>
            <a:endParaRPr lang="en-US" sz="1150" dirty="0"/>
          </a:p>
          <a:p>
            <a:pPr marL="177800" indent="-177800">
              <a:buSzPct val="100000"/>
              <a:buChar char="•"/>
            </a:pPr>
            <a:r>
              <a:rPr lang="en-US" sz="1150" dirty="0">
                <a:solidFill>
                  <a:srgbClr val="252B27"/>
                </a:solidFill>
              </a:rPr>
              <a:t>AutoCAD vehicle tracking, swept-path and access planning capability</a:t>
            </a:r>
            <a:endParaRPr lang="en-US" sz="1150" dirty="0"/>
          </a:p>
          <a:p>
            <a:pPr marL="177800" indent="-177800">
              <a:buSzPct val="100000"/>
              <a:buChar char="•"/>
            </a:pPr>
            <a:r>
              <a:rPr lang="en-US" sz="1150" dirty="0">
                <a:solidFill>
                  <a:srgbClr val="252B27"/>
                </a:solidFill>
              </a:rPr>
              <a:t>Tender, work-winning and operational delivery experience</a:t>
            </a:r>
            <a:endParaRPr lang="en-US" sz="11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5</a:t>
            </a:fld>
            <a:endParaRPr lang="en-US"/>
          </a:p>
        </p:txBody>
      </p:sp>
      <p:pic>
        <p:nvPicPr>
          <p:cNvPr id="11" name="Picture 10" descr="A person in a suit&#10;&#10;Description automatically generated">
            <a:extLst>
              <a:ext uri="{FF2B5EF4-FFF2-40B4-BE49-F238E27FC236}">
                <a16:creationId xmlns:a16="http://schemas.microsoft.com/office/drawing/2014/main" id="{B78AC3A5-4942-3148-BF99-9D08062328E3}"/>
              </a:ext>
            </a:extLst>
          </p:cNvPr>
          <p:cNvPicPr>
            <a:picLocks noChangeAspect="1"/>
          </p:cNvPicPr>
          <p:nvPr/>
        </p:nvPicPr>
        <p:blipFill rotWithShape="1">
          <a:blip r:embed="rId3"/>
          <a:srcRect t="150"/>
          <a:stretch/>
        </p:blipFill>
        <p:spPr>
          <a:xfrm>
            <a:off x="565331" y="3968154"/>
            <a:ext cx="2382520" cy="23789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OUR SERVICES</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Support across the development lifecycle.</a:t>
            </a:r>
            <a:endParaRPr lang="en-US" sz="2800" dirty="0"/>
          </a:p>
        </p:txBody>
      </p:sp>
      <p:sp>
        <p:nvSpPr>
          <p:cNvPr id="4" name="Text 2"/>
          <p:cNvSpPr/>
          <p:nvPr/>
        </p:nvSpPr>
        <p:spPr>
          <a:xfrm>
            <a:off x="594360" y="1371600"/>
            <a:ext cx="8046720" cy="457200"/>
          </a:xfrm>
          <a:prstGeom prst="rect">
            <a:avLst/>
          </a:prstGeom>
          <a:noFill/>
          <a:ln/>
        </p:spPr>
        <p:txBody>
          <a:bodyPr wrap="square" lIns="0" tIns="0" rIns="0" bIns="0" rtlCol="0" anchor="ctr"/>
          <a:lstStyle/>
          <a:p>
            <a:pPr marL="0" indent="0">
              <a:buNone/>
            </a:pPr>
            <a:r>
              <a:rPr lang="en-US" sz="1300" dirty="0">
                <a:solidFill>
                  <a:srgbClr val="6F7771"/>
                </a:solidFill>
              </a:rPr>
              <a:t>From early planning and condition discharge to tender support and live construction logistics.</a:t>
            </a:r>
            <a:endParaRPr lang="en-US" sz="1300" dirty="0"/>
          </a:p>
        </p:txBody>
      </p:sp>
      <p:sp>
        <p:nvSpPr>
          <p:cNvPr id="5" name="Shape 3"/>
          <p:cNvSpPr/>
          <p:nvPr/>
        </p:nvSpPr>
        <p:spPr>
          <a:xfrm>
            <a:off x="594360" y="2971800"/>
            <a:ext cx="1965960" cy="1143000"/>
          </a:xfrm>
          <a:prstGeom prst="roundRect">
            <a:avLst>
              <a:gd name="adj" fmla="val 4800"/>
            </a:avLst>
          </a:prstGeom>
          <a:solidFill>
            <a:srgbClr val="FFFFFF"/>
          </a:solidFill>
          <a:ln w="12700">
            <a:solidFill>
              <a:srgbClr val="D9DEDA"/>
            </a:solidFill>
            <a:prstDash val="solid"/>
          </a:ln>
        </p:spPr>
        <p:txBody>
          <a:bodyPr/>
          <a:lstStyle/>
          <a:p>
            <a:endParaRPr lang="en-US"/>
          </a:p>
        </p:txBody>
      </p:sp>
      <p:sp>
        <p:nvSpPr>
          <p:cNvPr id="6" name="Text 4"/>
          <p:cNvSpPr/>
          <p:nvPr/>
        </p:nvSpPr>
        <p:spPr>
          <a:xfrm>
            <a:off x="731520" y="3172968"/>
            <a:ext cx="1691640" cy="256032"/>
          </a:xfrm>
          <a:prstGeom prst="rect">
            <a:avLst/>
          </a:prstGeom>
          <a:noFill/>
          <a:ln/>
        </p:spPr>
        <p:txBody>
          <a:bodyPr wrap="square" lIns="0" tIns="0" rIns="0" bIns="0" rtlCol="0" anchor="ctr">
            <a:normAutofit/>
          </a:bodyPr>
          <a:lstStyle/>
          <a:p>
            <a:pPr marL="0" indent="0" algn="ctr">
              <a:buNone/>
            </a:pPr>
            <a:r>
              <a:rPr lang="en-US" sz="1000" b="1" dirty="0">
                <a:solidFill>
                  <a:srgbClr val="151A17"/>
                </a:solidFill>
              </a:rPr>
              <a:t>PLANNING SUPPORT</a:t>
            </a:r>
            <a:endParaRPr lang="en-US" sz="1000" dirty="0"/>
          </a:p>
        </p:txBody>
      </p:sp>
      <p:sp>
        <p:nvSpPr>
          <p:cNvPr id="7" name="Text 5"/>
          <p:cNvSpPr/>
          <p:nvPr/>
        </p:nvSpPr>
        <p:spPr>
          <a:xfrm>
            <a:off x="704088" y="3593592"/>
            <a:ext cx="1737360" cy="228600"/>
          </a:xfrm>
          <a:prstGeom prst="rect">
            <a:avLst/>
          </a:prstGeom>
          <a:noFill/>
          <a:ln/>
        </p:spPr>
        <p:txBody>
          <a:bodyPr wrap="square" lIns="0" tIns="0" rIns="0" bIns="0" rtlCol="0" anchor="ctr">
            <a:normAutofit/>
          </a:bodyPr>
          <a:lstStyle/>
          <a:p>
            <a:pPr marL="0" indent="0" algn="ctr">
              <a:buNone/>
            </a:pPr>
            <a:r>
              <a:rPr lang="en-US" sz="850" dirty="0">
                <a:solidFill>
                  <a:srgbClr val="6F7771"/>
                </a:solidFill>
              </a:rPr>
              <a:t>CMP | CEMP | CLP</a:t>
            </a:r>
            <a:endParaRPr lang="en-US" sz="850" dirty="0"/>
          </a:p>
        </p:txBody>
      </p:sp>
      <p:sp>
        <p:nvSpPr>
          <p:cNvPr id="8" name="Shape 6"/>
          <p:cNvSpPr/>
          <p:nvPr/>
        </p:nvSpPr>
        <p:spPr>
          <a:xfrm>
            <a:off x="2606040" y="3300984"/>
            <a:ext cx="228600" cy="438912"/>
          </a:xfrm>
          <a:prstGeom prst="chevron">
            <a:avLst/>
          </a:prstGeom>
          <a:solidFill>
            <a:srgbClr val="B8BEB9"/>
          </a:solidFill>
          <a:ln w="12700">
            <a:solidFill>
              <a:srgbClr val="B8BEB9"/>
            </a:solidFill>
            <a:prstDash val="solid"/>
          </a:ln>
        </p:spPr>
        <p:txBody>
          <a:bodyPr/>
          <a:lstStyle/>
          <a:p>
            <a:endParaRPr lang="en-US"/>
          </a:p>
        </p:txBody>
      </p:sp>
      <p:sp>
        <p:nvSpPr>
          <p:cNvPr id="9" name="Shape 7"/>
          <p:cNvSpPr/>
          <p:nvPr/>
        </p:nvSpPr>
        <p:spPr>
          <a:xfrm>
            <a:off x="2898648" y="3474720"/>
            <a:ext cx="1965960" cy="1143000"/>
          </a:xfrm>
          <a:prstGeom prst="roundRect">
            <a:avLst>
              <a:gd name="adj" fmla="val 4800"/>
            </a:avLst>
          </a:prstGeom>
          <a:solidFill>
            <a:srgbClr val="FFFFFF"/>
          </a:solidFill>
          <a:ln w="12700">
            <a:solidFill>
              <a:srgbClr val="D9DEDA"/>
            </a:solidFill>
            <a:prstDash val="solid"/>
          </a:ln>
        </p:spPr>
        <p:txBody>
          <a:bodyPr/>
          <a:lstStyle/>
          <a:p>
            <a:endParaRPr lang="en-US"/>
          </a:p>
        </p:txBody>
      </p:sp>
      <p:sp>
        <p:nvSpPr>
          <p:cNvPr id="10" name="Text 8"/>
          <p:cNvSpPr/>
          <p:nvPr/>
        </p:nvSpPr>
        <p:spPr>
          <a:xfrm>
            <a:off x="3035808" y="3675888"/>
            <a:ext cx="1691640" cy="256032"/>
          </a:xfrm>
          <a:prstGeom prst="rect">
            <a:avLst/>
          </a:prstGeom>
          <a:noFill/>
          <a:ln/>
        </p:spPr>
        <p:txBody>
          <a:bodyPr wrap="square" lIns="0" tIns="0" rIns="0" bIns="0" rtlCol="0" anchor="ctr">
            <a:normAutofit/>
          </a:bodyPr>
          <a:lstStyle/>
          <a:p>
            <a:pPr marL="0" indent="0" algn="ctr">
              <a:buNone/>
            </a:pPr>
            <a:r>
              <a:rPr lang="en-US" sz="1000" b="1" dirty="0">
                <a:solidFill>
                  <a:srgbClr val="151A17"/>
                </a:solidFill>
              </a:rPr>
              <a:t>CONDITION DISCHARGE</a:t>
            </a:r>
            <a:endParaRPr lang="en-US" sz="1000" dirty="0"/>
          </a:p>
        </p:txBody>
      </p:sp>
      <p:sp>
        <p:nvSpPr>
          <p:cNvPr id="11" name="Text 9"/>
          <p:cNvSpPr/>
          <p:nvPr/>
        </p:nvSpPr>
        <p:spPr>
          <a:xfrm>
            <a:off x="3008376" y="4096512"/>
            <a:ext cx="1737360" cy="228600"/>
          </a:xfrm>
          <a:prstGeom prst="rect">
            <a:avLst/>
          </a:prstGeom>
          <a:noFill/>
          <a:ln/>
        </p:spPr>
        <p:txBody>
          <a:bodyPr wrap="square" lIns="0" tIns="0" rIns="0" bIns="0" rtlCol="0" anchor="ctr">
            <a:normAutofit/>
          </a:bodyPr>
          <a:lstStyle/>
          <a:p>
            <a:pPr marL="0" indent="0" algn="ctr">
              <a:buNone/>
            </a:pPr>
            <a:r>
              <a:rPr lang="en-US" sz="850" dirty="0">
                <a:solidFill>
                  <a:srgbClr val="6F7771"/>
                </a:solidFill>
              </a:rPr>
              <a:t>CTMP | SMP | SWMP</a:t>
            </a:r>
            <a:endParaRPr lang="en-US" sz="850" dirty="0"/>
          </a:p>
        </p:txBody>
      </p:sp>
      <p:sp>
        <p:nvSpPr>
          <p:cNvPr id="12" name="Shape 10"/>
          <p:cNvSpPr/>
          <p:nvPr/>
        </p:nvSpPr>
        <p:spPr>
          <a:xfrm>
            <a:off x="4910328" y="3803904"/>
            <a:ext cx="228600" cy="438912"/>
          </a:xfrm>
          <a:prstGeom prst="chevron">
            <a:avLst/>
          </a:prstGeom>
          <a:solidFill>
            <a:srgbClr val="B8BEB9"/>
          </a:solidFill>
          <a:ln w="12700">
            <a:solidFill>
              <a:srgbClr val="B8BEB9"/>
            </a:solidFill>
            <a:prstDash val="solid"/>
          </a:ln>
        </p:spPr>
        <p:txBody>
          <a:bodyPr/>
          <a:lstStyle/>
          <a:p>
            <a:endParaRPr lang="en-US"/>
          </a:p>
        </p:txBody>
      </p:sp>
      <p:sp>
        <p:nvSpPr>
          <p:cNvPr id="13" name="Shape 11"/>
          <p:cNvSpPr/>
          <p:nvPr/>
        </p:nvSpPr>
        <p:spPr>
          <a:xfrm>
            <a:off x="5202936" y="2971800"/>
            <a:ext cx="1965960" cy="1143000"/>
          </a:xfrm>
          <a:prstGeom prst="roundRect">
            <a:avLst>
              <a:gd name="adj" fmla="val 4800"/>
            </a:avLst>
          </a:prstGeom>
          <a:solidFill>
            <a:srgbClr val="EAF8E9"/>
          </a:solidFill>
          <a:ln w="19050">
            <a:solidFill>
              <a:srgbClr val="16C60C"/>
            </a:solidFill>
            <a:prstDash val="solid"/>
          </a:ln>
        </p:spPr>
        <p:txBody>
          <a:bodyPr/>
          <a:lstStyle/>
          <a:p>
            <a:endParaRPr lang="en-US"/>
          </a:p>
        </p:txBody>
      </p:sp>
      <p:sp>
        <p:nvSpPr>
          <p:cNvPr id="14" name="Text 12"/>
          <p:cNvSpPr/>
          <p:nvPr/>
        </p:nvSpPr>
        <p:spPr>
          <a:xfrm>
            <a:off x="5340096" y="3172968"/>
            <a:ext cx="1691640" cy="256032"/>
          </a:xfrm>
          <a:prstGeom prst="rect">
            <a:avLst/>
          </a:prstGeom>
          <a:noFill/>
          <a:ln/>
        </p:spPr>
        <p:txBody>
          <a:bodyPr wrap="square" lIns="0" tIns="0" rIns="0" bIns="0" rtlCol="0" anchor="ctr">
            <a:normAutofit/>
          </a:bodyPr>
          <a:lstStyle/>
          <a:p>
            <a:pPr marL="0" indent="0" algn="ctr">
              <a:buNone/>
            </a:pPr>
            <a:r>
              <a:rPr lang="en-US" sz="1000" b="1" dirty="0">
                <a:solidFill>
                  <a:srgbClr val="16C60C"/>
                </a:solidFill>
              </a:rPr>
              <a:t>ACCESS &amp; MOVEMENT</a:t>
            </a:r>
            <a:endParaRPr lang="en-US" sz="1000" dirty="0"/>
          </a:p>
        </p:txBody>
      </p:sp>
      <p:sp>
        <p:nvSpPr>
          <p:cNvPr id="15" name="Text 13"/>
          <p:cNvSpPr/>
          <p:nvPr/>
        </p:nvSpPr>
        <p:spPr>
          <a:xfrm>
            <a:off x="5312664" y="3593592"/>
            <a:ext cx="1737360" cy="228600"/>
          </a:xfrm>
          <a:prstGeom prst="rect">
            <a:avLst/>
          </a:prstGeom>
          <a:noFill/>
          <a:ln/>
        </p:spPr>
        <p:txBody>
          <a:bodyPr wrap="square" lIns="0" tIns="0" rIns="0" bIns="0" rtlCol="0" anchor="ctr">
            <a:normAutofit/>
          </a:bodyPr>
          <a:lstStyle/>
          <a:p>
            <a:pPr marL="0" indent="0" algn="ctr">
              <a:buNone/>
            </a:pPr>
            <a:r>
              <a:rPr lang="en-US" sz="850" dirty="0">
                <a:solidFill>
                  <a:srgbClr val="6F7771"/>
                </a:solidFill>
              </a:rPr>
              <a:t>Swept Paths | Routing</a:t>
            </a:r>
            <a:endParaRPr lang="en-US" sz="850" dirty="0"/>
          </a:p>
        </p:txBody>
      </p:sp>
      <p:sp>
        <p:nvSpPr>
          <p:cNvPr id="16" name="Shape 14"/>
          <p:cNvSpPr/>
          <p:nvPr/>
        </p:nvSpPr>
        <p:spPr>
          <a:xfrm>
            <a:off x="7214616" y="3300984"/>
            <a:ext cx="228600" cy="438912"/>
          </a:xfrm>
          <a:prstGeom prst="chevron">
            <a:avLst/>
          </a:prstGeom>
          <a:solidFill>
            <a:srgbClr val="B8BEB9"/>
          </a:solidFill>
          <a:ln w="12700">
            <a:solidFill>
              <a:srgbClr val="B8BEB9"/>
            </a:solidFill>
            <a:prstDash val="solid"/>
          </a:ln>
        </p:spPr>
        <p:txBody>
          <a:bodyPr/>
          <a:lstStyle/>
          <a:p>
            <a:endParaRPr lang="en-US"/>
          </a:p>
        </p:txBody>
      </p:sp>
      <p:sp>
        <p:nvSpPr>
          <p:cNvPr id="17" name="Shape 15"/>
          <p:cNvSpPr/>
          <p:nvPr/>
        </p:nvSpPr>
        <p:spPr>
          <a:xfrm>
            <a:off x="7507224" y="3474720"/>
            <a:ext cx="1965960" cy="1143000"/>
          </a:xfrm>
          <a:prstGeom prst="roundRect">
            <a:avLst>
              <a:gd name="adj" fmla="val 4800"/>
            </a:avLst>
          </a:prstGeom>
          <a:solidFill>
            <a:srgbClr val="FFFFFF"/>
          </a:solidFill>
          <a:ln w="12700">
            <a:solidFill>
              <a:srgbClr val="D9DEDA"/>
            </a:solidFill>
            <a:prstDash val="solid"/>
          </a:ln>
        </p:spPr>
        <p:txBody>
          <a:bodyPr/>
          <a:lstStyle/>
          <a:p>
            <a:endParaRPr lang="en-US"/>
          </a:p>
        </p:txBody>
      </p:sp>
      <p:sp>
        <p:nvSpPr>
          <p:cNvPr id="18" name="Text 16"/>
          <p:cNvSpPr/>
          <p:nvPr/>
        </p:nvSpPr>
        <p:spPr>
          <a:xfrm>
            <a:off x="7644384" y="3675888"/>
            <a:ext cx="1691640" cy="256032"/>
          </a:xfrm>
          <a:prstGeom prst="rect">
            <a:avLst/>
          </a:prstGeom>
          <a:noFill/>
          <a:ln/>
        </p:spPr>
        <p:txBody>
          <a:bodyPr wrap="square" lIns="0" tIns="0" rIns="0" bIns="0" rtlCol="0" anchor="ctr">
            <a:normAutofit/>
          </a:bodyPr>
          <a:lstStyle/>
          <a:p>
            <a:pPr marL="0" indent="0" algn="ctr">
              <a:buNone/>
            </a:pPr>
            <a:r>
              <a:rPr lang="en-US" sz="1000" b="1" dirty="0">
                <a:solidFill>
                  <a:srgbClr val="151A17"/>
                </a:solidFill>
              </a:rPr>
              <a:t>PRE-CONSTRUCTION</a:t>
            </a:r>
            <a:endParaRPr lang="en-US" sz="1000" dirty="0"/>
          </a:p>
        </p:txBody>
      </p:sp>
      <p:sp>
        <p:nvSpPr>
          <p:cNvPr id="19" name="Text 17"/>
          <p:cNvSpPr/>
          <p:nvPr/>
        </p:nvSpPr>
        <p:spPr>
          <a:xfrm>
            <a:off x="7616952" y="4096512"/>
            <a:ext cx="1737360" cy="228600"/>
          </a:xfrm>
          <a:prstGeom prst="rect">
            <a:avLst/>
          </a:prstGeom>
          <a:noFill/>
          <a:ln/>
        </p:spPr>
        <p:txBody>
          <a:bodyPr wrap="square" lIns="0" tIns="0" rIns="0" bIns="0" rtlCol="0" anchor="ctr">
            <a:normAutofit/>
          </a:bodyPr>
          <a:lstStyle/>
          <a:p>
            <a:pPr marL="0" indent="0" algn="ctr">
              <a:buNone/>
            </a:pPr>
            <a:r>
              <a:rPr lang="en-US" sz="850" dirty="0">
                <a:solidFill>
                  <a:srgbClr val="6F7771"/>
                </a:solidFill>
              </a:rPr>
              <a:t>Tender | Logistics Strategy</a:t>
            </a:r>
            <a:endParaRPr lang="en-US" sz="850" dirty="0"/>
          </a:p>
        </p:txBody>
      </p:sp>
      <p:sp>
        <p:nvSpPr>
          <p:cNvPr id="20" name="Shape 18"/>
          <p:cNvSpPr/>
          <p:nvPr/>
        </p:nvSpPr>
        <p:spPr>
          <a:xfrm>
            <a:off x="9518904" y="3803904"/>
            <a:ext cx="228600" cy="438912"/>
          </a:xfrm>
          <a:prstGeom prst="chevron">
            <a:avLst/>
          </a:prstGeom>
          <a:solidFill>
            <a:srgbClr val="B8BEB9"/>
          </a:solidFill>
          <a:ln w="12700">
            <a:solidFill>
              <a:srgbClr val="B8BEB9"/>
            </a:solidFill>
            <a:prstDash val="solid"/>
          </a:ln>
        </p:spPr>
        <p:txBody>
          <a:bodyPr/>
          <a:lstStyle/>
          <a:p>
            <a:endParaRPr lang="en-US"/>
          </a:p>
        </p:txBody>
      </p:sp>
      <p:sp>
        <p:nvSpPr>
          <p:cNvPr id="21" name="Shape 19"/>
          <p:cNvSpPr/>
          <p:nvPr/>
        </p:nvSpPr>
        <p:spPr>
          <a:xfrm>
            <a:off x="9811512" y="2971800"/>
            <a:ext cx="1965960" cy="1143000"/>
          </a:xfrm>
          <a:prstGeom prst="roundRect">
            <a:avLst>
              <a:gd name="adj" fmla="val 4800"/>
            </a:avLst>
          </a:prstGeom>
          <a:solidFill>
            <a:srgbClr val="FFFFFF"/>
          </a:solidFill>
          <a:ln w="12700">
            <a:solidFill>
              <a:srgbClr val="D9DEDA"/>
            </a:solidFill>
            <a:prstDash val="solid"/>
          </a:ln>
        </p:spPr>
        <p:txBody>
          <a:bodyPr/>
          <a:lstStyle/>
          <a:p>
            <a:endParaRPr lang="en-US"/>
          </a:p>
        </p:txBody>
      </p:sp>
      <p:sp>
        <p:nvSpPr>
          <p:cNvPr id="22" name="Text 20"/>
          <p:cNvSpPr/>
          <p:nvPr/>
        </p:nvSpPr>
        <p:spPr>
          <a:xfrm>
            <a:off x="9948672" y="3172968"/>
            <a:ext cx="1691640" cy="256032"/>
          </a:xfrm>
          <a:prstGeom prst="rect">
            <a:avLst/>
          </a:prstGeom>
          <a:noFill/>
          <a:ln/>
        </p:spPr>
        <p:txBody>
          <a:bodyPr wrap="square" lIns="0" tIns="0" rIns="0" bIns="0" rtlCol="0" anchor="ctr">
            <a:normAutofit/>
          </a:bodyPr>
          <a:lstStyle/>
          <a:p>
            <a:pPr marL="0" indent="0" algn="ctr">
              <a:buNone/>
            </a:pPr>
            <a:r>
              <a:rPr lang="en-US" sz="1000" b="1" dirty="0">
                <a:solidFill>
                  <a:srgbClr val="151A17"/>
                </a:solidFill>
              </a:rPr>
              <a:t>DELIVERY SUPPORT</a:t>
            </a:r>
            <a:endParaRPr lang="en-US" sz="1000" dirty="0"/>
          </a:p>
        </p:txBody>
      </p:sp>
      <p:sp>
        <p:nvSpPr>
          <p:cNvPr id="23" name="Text 21"/>
          <p:cNvSpPr/>
          <p:nvPr/>
        </p:nvSpPr>
        <p:spPr>
          <a:xfrm>
            <a:off x="9921240" y="3593592"/>
            <a:ext cx="1737360" cy="228600"/>
          </a:xfrm>
          <a:prstGeom prst="rect">
            <a:avLst/>
          </a:prstGeom>
          <a:noFill/>
          <a:ln/>
        </p:spPr>
        <p:txBody>
          <a:bodyPr wrap="square" lIns="0" tIns="0" rIns="0" bIns="0" rtlCol="0" anchor="ctr">
            <a:normAutofit/>
          </a:bodyPr>
          <a:lstStyle/>
          <a:p>
            <a:pPr marL="0" indent="0" algn="ctr">
              <a:buNone/>
            </a:pPr>
            <a:r>
              <a:rPr lang="en-US" sz="850" dirty="0">
                <a:solidFill>
                  <a:srgbClr val="6F7771"/>
                </a:solidFill>
              </a:rPr>
              <a:t>Reviews | Updates | Advice</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PLANNING &amp; TECHNICAL SUPPORT</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Clear submissions that help projects progress.</a:t>
            </a:r>
            <a:endParaRPr lang="en-US" sz="2800" dirty="0"/>
          </a:p>
        </p:txBody>
      </p:sp>
      <p:sp>
        <p:nvSpPr>
          <p:cNvPr id="4" name="Text 2"/>
          <p:cNvSpPr/>
          <p:nvPr/>
        </p:nvSpPr>
        <p:spPr>
          <a:xfrm>
            <a:off x="777240" y="2011680"/>
            <a:ext cx="4937760" cy="3108960"/>
          </a:xfrm>
          <a:prstGeom prst="rect">
            <a:avLst/>
          </a:prstGeom>
          <a:noFill/>
          <a:ln/>
        </p:spPr>
        <p:txBody>
          <a:bodyPr wrap="square" lIns="381" tIns="381" rIns="381" bIns="381" rtlCol="0" anchor="ctr">
            <a:normAutofit/>
          </a:bodyPr>
          <a:lstStyle/>
          <a:p>
            <a:pPr marL="177800" indent="-177800">
              <a:buSzPct val="100000"/>
              <a:buChar char="•"/>
            </a:pPr>
            <a:r>
              <a:rPr lang="en-US" sz="1400" dirty="0">
                <a:solidFill>
                  <a:srgbClr val="252B27"/>
                </a:solidFill>
              </a:rPr>
              <a:t>Construction Management Plans (CMP)</a:t>
            </a:r>
            <a:endParaRPr lang="en-US" sz="1400" dirty="0"/>
          </a:p>
          <a:p>
            <a:pPr marL="177800" indent="-177800">
              <a:buSzPct val="100000"/>
              <a:buChar char="•"/>
            </a:pPr>
            <a:r>
              <a:rPr lang="en-US" sz="1400" dirty="0">
                <a:solidFill>
                  <a:srgbClr val="252B27"/>
                </a:solidFill>
              </a:rPr>
              <a:t>Construction Logistics Plans (CLP)</a:t>
            </a:r>
            <a:endParaRPr lang="en-US" sz="1400" dirty="0"/>
          </a:p>
          <a:p>
            <a:pPr marL="177800" indent="-177800">
              <a:buSzPct val="100000"/>
              <a:buChar char="•"/>
            </a:pPr>
            <a:r>
              <a:rPr lang="en-US" sz="1400" dirty="0">
                <a:solidFill>
                  <a:srgbClr val="252B27"/>
                </a:solidFill>
              </a:rPr>
              <a:t>Construction Traffic Management Plans (CTMP)</a:t>
            </a:r>
            <a:endParaRPr lang="en-US" sz="1400" dirty="0"/>
          </a:p>
          <a:p>
            <a:pPr marL="177800" indent="-177800">
              <a:buSzPct val="100000"/>
              <a:buChar char="•"/>
            </a:pPr>
            <a:r>
              <a:rPr lang="en-US" sz="1400" dirty="0">
                <a:solidFill>
                  <a:srgbClr val="252B27"/>
                </a:solidFill>
              </a:rPr>
              <a:t>Construction Environmental Management Plans (CEMP)</a:t>
            </a:r>
            <a:endParaRPr lang="en-US" sz="1400" dirty="0"/>
          </a:p>
        </p:txBody>
      </p:sp>
      <p:sp>
        <p:nvSpPr>
          <p:cNvPr id="5" name="Text 3"/>
          <p:cNvSpPr/>
          <p:nvPr/>
        </p:nvSpPr>
        <p:spPr>
          <a:xfrm>
            <a:off x="6126480" y="2011680"/>
            <a:ext cx="4937760" cy="3108960"/>
          </a:xfrm>
          <a:prstGeom prst="rect">
            <a:avLst/>
          </a:prstGeom>
          <a:noFill/>
          <a:ln/>
        </p:spPr>
        <p:txBody>
          <a:bodyPr wrap="square" lIns="381" tIns="381" rIns="381" bIns="381" rtlCol="0" anchor="ctr">
            <a:normAutofit/>
          </a:bodyPr>
          <a:lstStyle/>
          <a:p>
            <a:pPr marL="177800" indent="-177800">
              <a:buSzPct val="100000"/>
              <a:buChar char="•"/>
            </a:pPr>
            <a:r>
              <a:rPr lang="en-US" sz="1400" dirty="0">
                <a:solidFill>
                  <a:srgbClr val="252B27"/>
                </a:solidFill>
              </a:rPr>
              <a:t>Materials Management Plans (MMP)</a:t>
            </a:r>
            <a:endParaRPr lang="en-US" sz="1400" dirty="0"/>
          </a:p>
          <a:p>
            <a:pPr marL="177800" indent="-177800">
              <a:buSzPct val="100000"/>
              <a:buChar char="•"/>
            </a:pPr>
            <a:r>
              <a:rPr lang="en-US" sz="1400" dirty="0">
                <a:solidFill>
                  <a:srgbClr val="252B27"/>
                </a:solidFill>
              </a:rPr>
              <a:t>Site Waste Management Plans (SWMP)</a:t>
            </a:r>
            <a:endParaRPr lang="en-US" sz="1400" dirty="0"/>
          </a:p>
          <a:p>
            <a:pPr marL="177800" indent="-177800">
              <a:buSzPct val="100000"/>
              <a:buChar char="•"/>
            </a:pPr>
            <a:r>
              <a:rPr lang="en-US" sz="1400" dirty="0">
                <a:solidFill>
                  <a:srgbClr val="252B27"/>
                </a:solidFill>
              </a:rPr>
              <a:t>Servicing / Delivery Management Plans</a:t>
            </a:r>
            <a:endParaRPr lang="en-US" sz="1400" dirty="0"/>
          </a:p>
          <a:p>
            <a:pPr marL="177800" indent="-177800">
              <a:buSzPct val="100000"/>
              <a:buChar char="•"/>
            </a:pPr>
            <a:r>
              <a:rPr lang="en-US" sz="1400" dirty="0">
                <a:solidFill>
                  <a:srgbClr val="252B27"/>
                </a:solidFill>
              </a:rPr>
              <a:t>Planning Condition Discharge Support</a:t>
            </a:r>
            <a:endParaRPr lang="en-US" sz="1400" dirty="0"/>
          </a:p>
        </p:txBody>
      </p:sp>
      <p:sp>
        <p:nvSpPr>
          <p:cNvPr id="6" name="Shape 4"/>
          <p:cNvSpPr/>
          <p:nvPr/>
        </p:nvSpPr>
        <p:spPr>
          <a:xfrm>
            <a:off x="777240" y="5257800"/>
            <a:ext cx="10287000" cy="640080"/>
          </a:xfrm>
          <a:prstGeom prst="roundRect">
            <a:avLst>
              <a:gd name="adj" fmla="val 7143"/>
            </a:avLst>
          </a:prstGeom>
          <a:solidFill>
            <a:srgbClr val="EAF8E9"/>
          </a:solidFill>
          <a:ln w="12700">
            <a:solidFill>
              <a:srgbClr val="C8EFC5"/>
            </a:solidFill>
            <a:prstDash val="solid"/>
          </a:ln>
        </p:spPr>
        <p:txBody>
          <a:bodyPr/>
          <a:lstStyle/>
          <a:p>
            <a:endParaRPr lang="en-US"/>
          </a:p>
        </p:txBody>
      </p:sp>
      <p:sp>
        <p:nvSpPr>
          <p:cNvPr id="7" name="Text 5"/>
          <p:cNvSpPr/>
          <p:nvPr/>
        </p:nvSpPr>
        <p:spPr>
          <a:xfrm>
            <a:off x="1005840" y="5468112"/>
            <a:ext cx="9829800" cy="219456"/>
          </a:xfrm>
          <a:prstGeom prst="rect">
            <a:avLst/>
          </a:prstGeom>
          <a:noFill/>
          <a:ln/>
        </p:spPr>
        <p:txBody>
          <a:bodyPr wrap="square" lIns="0" tIns="0" rIns="0" bIns="0" rtlCol="0" anchor="ctr">
            <a:normAutofit fontScale="85000" lnSpcReduction="10000"/>
          </a:bodyPr>
          <a:lstStyle/>
          <a:p>
            <a:pPr marL="0" indent="0" algn="ctr">
              <a:buNone/>
            </a:pPr>
            <a:r>
              <a:rPr lang="en-US" sz="1150" b="1" dirty="0">
                <a:solidFill>
                  <a:srgbClr val="167C10"/>
                </a:solidFill>
              </a:rPr>
              <a:t>Objective: satisfy planning requirements without losing sight of programme, procurement, logistics demand, site establishment and construction sequencing.</a:t>
            </a:r>
            <a:endParaRPr lang="en-US" sz="11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ACCESS, TRAFFIC &amp; VEHICLE MOVEMENT</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Solving the interface between the site and the public highway.</a:t>
            </a:r>
            <a:endParaRPr lang="en-US" sz="2800" dirty="0"/>
          </a:p>
        </p:txBody>
      </p:sp>
      <p:sp>
        <p:nvSpPr>
          <p:cNvPr id="4" name="Text 2"/>
          <p:cNvSpPr/>
          <p:nvPr/>
        </p:nvSpPr>
        <p:spPr>
          <a:xfrm>
            <a:off x="685800" y="1828800"/>
            <a:ext cx="5486400" cy="1143000"/>
          </a:xfrm>
          <a:prstGeom prst="rect">
            <a:avLst/>
          </a:prstGeom>
          <a:noFill/>
          <a:ln/>
        </p:spPr>
        <p:txBody>
          <a:bodyPr wrap="square" lIns="0" tIns="0" rIns="0" bIns="0" rtlCol="0" anchor="ctr">
            <a:normAutofit/>
          </a:bodyPr>
          <a:lstStyle/>
          <a:p>
            <a:pPr marL="0" indent="0">
              <a:buNone/>
            </a:pPr>
            <a:r>
              <a:rPr lang="en-US" sz="1500" dirty="0">
                <a:solidFill>
                  <a:srgbClr val="252B27"/>
                </a:solidFill>
              </a:rPr>
              <a:t>A recurring challenge on constrained developments is proving that construction traffic can access, service and leave the site safely without creating unacceptable impacts on pedestrians, cyclists, neighbours or the highway network.</a:t>
            </a:r>
            <a:endParaRPr lang="en-US" sz="1500" dirty="0"/>
          </a:p>
        </p:txBody>
      </p:sp>
      <p:sp>
        <p:nvSpPr>
          <p:cNvPr id="5" name="Text 3"/>
          <p:cNvSpPr/>
          <p:nvPr/>
        </p:nvSpPr>
        <p:spPr>
          <a:xfrm>
            <a:off x="777240" y="3154680"/>
            <a:ext cx="5212080" cy="2468880"/>
          </a:xfrm>
          <a:prstGeom prst="rect">
            <a:avLst/>
          </a:prstGeom>
          <a:noFill/>
          <a:ln/>
        </p:spPr>
        <p:txBody>
          <a:bodyPr wrap="square" lIns="381" tIns="381" rIns="381" bIns="381" rtlCol="0" anchor="ctr">
            <a:normAutofit/>
          </a:bodyPr>
          <a:lstStyle/>
          <a:p>
            <a:pPr marL="177800" indent="-177800">
              <a:buSzPct val="100000"/>
              <a:buChar char="•"/>
            </a:pPr>
            <a:r>
              <a:rPr lang="en-US" sz="1250" dirty="0">
                <a:solidFill>
                  <a:srgbClr val="252B27"/>
                </a:solidFill>
              </a:rPr>
              <a:t>Swept Path Analysis &amp; Vehicle Tracking</a:t>
            </a:r>
            <a:endParaRPr lang="en-US" sz="1250" dirty="0"/>
          </a:p>
          <a:p>
            <a:pPr marL="177800" indent="-177800">
              <a:buSzPct val="100000"/>
              <a:buChar char="•"/>
            </a:pPr>
            <a:r>
              <a:rPr lang="en-US" sz="1250" dirty="0">
                <a:solidFill>
                  <a:srgbClr val="252B27"/>
                </a:solidFill>
              </a:rPr>
              <a:t>Site Access Strategies</a:t>
            </a:r>
            <a:endParaRPr lang="en-US" sz="1250" dirty="0"/>
          </a:p>
          <a:p>
            <a:pPr marL="177800" indent="-177800">
              <a:buSzPct val="100000"/>
              <a:buChar char="•"/>
            </a:pPr>
            <a:r>
              <a:rPr lang="en-US" sz="1250" dirty="0">
                <a:solidFill>
                  <a:srgbClr val="252B27"/>
                </a:solidFill>
              </a:rPr>
              <a:t>Delivery Routing Plans</a:t>
            </a:r>
            <a:endParaRPr lang="en-US" sz="1250" dirty="0"/>
          </a:p>
          <a:p>
            <a:pPr marL="177800" indent="-177800">
              <a:buSzPct val="100000"/>
              <a:buChar char="•"/>
            </a:pPr>
            <a:r>
              <a:rPr lang="en-US" sz="1250" dirty="0">
                <a:solidFill>
                  <a:srgbClr val="252B27"/>
                </a:solidFill>
              </a:rPr>
              <a:t>Traffic Management Plans</a:t>
            </a:r>
            <a:endParaRPr lang="en-US" sz="1250" dirty="0"/>
          </a:p>
          <a:p>
            <a:pPr marL="177800" indent="-177800">
              <a:buSzPct val="100000"/>
              <a:buChar char="•"/>
            </a:pPr>
            <a:r>
              <a:rPr lang="en-US" sz="1250" dirty="0">
                <a:solidFill>
                  <a:srgbClr val="252B27"/>
                </a:solidFill>
              </a:rPr>
              <a:t>Pedestrian Management Plans</a:t>
            </a:r>
            <a:endParaRPr lang="en-US" sz="1250" dirty="0"/>
          </a:p>
          <a:p>
            <a:pPr marL="177800" indent="-177800">
              <a:buSzPct val="100000"/>
              <a:buChar char="•"/>
            </a:pPr>
            <a:r>
              <a:rPr lang="en-US" sz="1250" dirty="0">
                <a:solidFill>
                  <a:srgbClr val="252B27"/>
                </a:solidFill>
              </a:rPr>
              <a:t>Highway / licence application support</a:t>
            </a:r>
            <a:endParaRPr lang="en-US" sz="1250" dirty="0"/>
          </a:p>
          <a:p>
            <a:pPr marL="177800" indent="-177800">
              <a:buSzPct val="100000"/>
              <a:buChar char="•"/>
            </a:pPr>
            <a:r>
              <a:rPr lang="en-US" sz="1250" dirty="0">
                <a:solidFill>
                  <a:srgbClr val="252B27"/>
                </a:solidFill>
              </a:rPr>
              <a:t>Loading, bay suspension and servicing reviews</a:t>
            </a:r>
            <a:endParaRPr lang="en-US" sz="1250" dirty="0"/>
          </a:p>
        </p:txBody>
      </p:sp>
      <p:sp>
        <p:nvSpPr>
          <p:cNvPr id="6" name="Shape 4"/>
          <p:cNvSpPr/>
          <p:nvPr/>
        </p:nvSpPr>
        <p:spPr>
          <a:xfrm>
            <a:off x="6675120" y="1920240"/>
            <a:ext cx="4389120" cy="3566160"/>
          </a:xfrm>
          <a:prstGeom prst="roundRect">
            <a:avLst>
              <a:gd name="adj" fmla="val 2564"/>
            </a:avLst>
          </a:prstGeom>
          <a:solidFill>
            <a:srgbClr val="333936"/>
          </a:solidFill>
          <a:ln w="12700">
            <a:solidFill>
              <a:srgbClr val="333936"/>
            </a:solidFill>
            <a:prstDash val="solid"/>
          </a:ln>
        </p:spPr>
        <p:txBody>
          <a:bodyPr/>
          <a:lstStyle/>
          <a:p>
            <a:endParaRPr lang="en-US"/>
          </a:p>
        </p:txBody>
      </p:sp>
      <p:sp>
        <p:nvSpPr>
          <p:cNvPr id="7" name="Shape 5"/>
          <p:cNvSpPr/>
          <p:nvPr/>
        </p:nvSpPr>
        <p:spPr>
          <a:xfrm>
            <a:off x="8796528" y="2331720"/>
            <a:ext cx="0" cy="320040"/>
          </a:xfrm>
          <a:prstGeom prst="line">
            <a:avLst/>
          </a:prstGeom>
          <a:noFill/>
          <a:ln w="25400">
            <a:solidFill>
              <a:srgbClr val="FFFFFF"/>
            </a:solidFill>
            <a:prstDash val="solid"/>
          </a:ln>
        </p:spPr>
        <p:txBody>
          <a:bodyPr/>
          <a:lstStyle/>
          <a:p>
            <a:endParaRPr lang="en-US"/>
          </a:p>
        </p:txBody>
      </p:sp>
      <p:sp>
        <p:nvSpPr>
          <p:cNvPr id="8" name="Shape 6"/>
          <p:cNvSpPr/>
          <p:nvPr/>
        </p:nvSpPr>
        <p:spPr>
          <a:xfrm>
            <a:off x="8796528" y="3017520"/>
            <a:ext cx="0" cy="320040"/>
          </a:xfrm>
          <a:prstGeom prst="line">
            <a:avLst/>
          </a:prstGeom>
          <a:noFill/>
          <a:ln w="25400">
            <a:solidFill>
              <a:srgbClr val="FFFFFF"/>
            </a:solidFill>
            <a:prstDash val="solid"/>
          </a:ln>
        </p:spPr>
        <p:txBody>
          <a:bodyPr/>
          <a:lstStyle/>
          <a:p>
            <a:endParaRPr lang="en-US"/>
          </a:p>
        </p:txBody>
      </p:sp>
      <p:sp>
        <p:nvSpPr>
          <p:cNvPr id="9" name="Shape 7"/>
          <p:cNvSpPr/>
          <p:nvPr/>
        </p:nvSpPr>
        <p:spPr>
          <a:xfrm>
            <a:off x="8796528" y="3703320"/>
            <a:ext cx="0" cy="320040"/>
          </a:xfrm>
          <a:prstGeom prst="line">
            <a:avLst/>
          </a:prstGeom>
          <a:noFill/>
          <a:ln w="25400">
            <a:solidFill>
              <a:srgbClr val="FFFFFF"/>
            </a:solidFill>
            <a:prstDash val="solid"/>
          </a:ln>
        </p:spPr>
        <p:txBody>
          <a:bodyPr/>
          <a:lstStyle/>
          <a:p>
            <a:endParaRPr lang="en-US"/>
          </a:p>
        </p:txBody>
      </p:sp>
      <p:sp>
        <p:nvSpPr>
          <p:cNvPr id="10" name="Shape 8"/>
          <p:cNvSpPr/>
          <p:nvPr/>
        </p:nvSpPr>
        <p:spPr>
          <a:xfrm>
            <a:off x="8796528" y="4389120"/>
            <a:ext cx="0" cy="320040"/>
          </a:xfrm>
          <a:prstGeom prst="line">
            <a:avLst/>
          </a:prstGeom>
          <a:noFill/>
          <a:ln w="25400">
            <a:solidFill>
              <a:srgbClr val="FFFFFF"/>
            </a:solidFill>
            <a:prstDash val="solid"/>
          </a:ln>
        </p:spPr>
        <p:txBody>
          <a:bodyPr/>
          <a:lstStyle/>
          <a:p>
            <a:endParaRPr lang="en-US"/>
          </a:p>
        </p:txBody>
      </p:sp>
      <p:sp>
        <p:nvSpPr>
          <p:cNvPr id="11" name="Shape 9"/>
          <p:cNvSpPr/>
          <p:nvPr/>
        </p:nvSpPr>
        <p:spPr>
          <a:xfrm>
            <a:off x="8796528" y="5074920"/>
            <a:ext cx="0" cy="320040"/>
          </a:xfrm>
          <a:prstGeom prst="line">
            <a:avLst/>
          </a:prstGeom>
          <a:noFill/>
          <a:ln w="25400">
            <a:solidFill>
              <a:srgbClr val="FFFFFF"/>
            </a:solidFill>
            <a:prstDash val="solid"/>
          </a:ln>
        </p:spPr>
        <p:txBody>
          <a:bodyPr/>
          <a:lstStyle/>
          <a:p>
            <a:endParaRPr lang="en-US"/>
          </a:p>
        </p:txBody>
      </p:sp>
      <p:sp>
        <p:nvSpPr>
          <p:cNvPr id="12" name="Shape 10"/>
          <p:cNvSpPr/>
          <p:nvPr/>
        </p:nvSpPr>
        <p:spPr>
          <a:xfrm>
            <a:off x="7315200" y="2788920"/>
            <a:ext cx="1143000" cy="594360"/>
          </a:xfrm>
          <a:prstGeom prst="roundRect">
            <a:avLst>
              <a:gd name="adj" fmla="val 12308"/>
            </a:avLst>
          </a:prstGeom>
          <a:solidFill>
            <a:srgbClr val="FFFFFF"/>
          </a:solidFill>
          <a:ln w="12700">
            <a:solidFill>
              <a:srgbClr val="D0D0D0"/>
            </a:solidFill>
            <a:prstDash val="solid"/>
          </a:ln>
        </p:spPr>
        <p:txBody>
          <a:bodyPr/>
          <a:lstStyle/>
          <a:p>
            <a:endParaRPr lang="en-US"/>
          </a:p>
        </p:txBody>
      </p:sp>
      <p:sp>
        <p:nvSpPr>
          <p:cNvPr id="13" name="Text 11"/>
          <p:cNvSpPr/>
          <p:nvPr/>
        </p:nvSpPr>
        <p:spPr>
          <a:xfrm>
            <a:off x="7498080" y="2990088"/>
            <a:ext cx="777240" cy="146304"/>
          </a:xfrm>
          <a:prstGeom prst="rect">
            <a:avLst/>
          </a:prstGeom>
          <a:noFill/>
          <a:ln/>
        </p:spPr>
        <p:txBody>
          <a:bodyPr wrap="square" lIns="0" tIns="0" rIns="0" bIns="0" rtlCol="0" anchor="ctr"/>
          <a:lstStyle/>
          <a:p>
            <a:pPr marL="0" indent="0" algn="ctr">
              <a:buNone/>
            </a:pPr>
            <a:r>
              <a:rPr lang="en-US" sz="800" b="1" dirty="0">
                <a:solidFill>
                  <a:srgbClr val="151A17"/>
                </a:solidFill>
              </a:rPr>
              <a:t>RIGID</a:t>
            </a:r>
            <a:endParaRPr lang="en-US" sz="800" dirty="0"/>
          </a:p>
        </p:txBody>
      </p:sp>
      <p:sp>
        <p:nvSpPr>
          <p:cNvPr id="14" name="Shape 12"/>
          <p:cNvSpPr/>
          <p:nvPr/>
        </p:nvSpPr>
        <p:spPr>
          <a:xfrm rot="600000">
            <a:off x="7452360" y="2926080"/>
            <a:ext cx="2560320" cy="1828800"/>
          </a:xfrm>
          <a:prstGeom prst="arc">
            <a:avLst/>
          </a:prstGeom>
          <a:solidFill>
            <a:srgbClr val="333936">
              <a:alpha val="0"/>
            </a:srgbClr>
          </a:solidFill>
          <a:ln w="38100">
            <a:solidFill>
              <a:srgbClr val="16C60C"/>
            </a:solidFill>
            <a:prstDash val="solid"/>
          </a:ln>
        </p:spPr>
        <p:txBody>
          <a:bodyPr/>
          <a:lstStyle/>
          <a:p>
            <a:endParaRPr lang="en-US"/>
          </a:p>
        </p:txBody>
      </p:sp>
      <p:sp>
        <p:nvSpPr>
          <p:cNvPr id="15" name="Text 13"/>
          <p:cNvSpPr/>
          <p:nvPr/>
        </p:nvSpPr>
        <p:spPr>
          <a:xfrm>
            <a:off x="7360920" y="4892040"/>
            <a:ext cx="3017520" cy="228600"/>
          </a:xfrm>
          <a:prstGeom prst="rect">
            <a:avLst/>
          </a:prstGeom>
          <a:noFill/>
          <a:ln/>
        </p:spPr>
        <p:txBody>
          <a:bodyPr wrap="square" lIns="0" tIns="0" rIns="0" bIns="0" rtlCol="0" anchor="ctr"/>
          <a:lstStyle/>
          <a:p>
            <a:pPr marL="0" indent="0" algn="ctr">
              <a:buNone/>
            </a:pPr>
            <a:r>
              <a:rPr lang="en-US" sz="900" dirty="0">
                <a:solidFill>
                  <a:srgbClr val="FFFFFF"/>
                </a:solidFill>
              </a:rPr>
              <a:t>Vehicle path / turning envelope</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TENDER &amp; PRE-CONSTRUCTION SUPPORT</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Strengthening bids with practical logistics thinking.</a:t>
            </a:r>
            <a:endParaRPr lang="en-US" sz="2800" dirty="0"/>
          </a:p>
        </p:txBody>
      </p:sp>
      <p:sp>
        <p:nvSpPr>
          <p:cNvPr id="4" name="Shape 2"/>
          <p:cNvSpPr/>
          <p:nvPr/>
        </p:nvSpPr>
        <p:spPr>
          <a:xfrm>
            <a:off x="685800" y="20116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5" name="Shape 3"/>
          <p:cNvSpPr/>
          <p:nvPr/>
        </p:nvSpPr>
        <p:spPr>
          <a:xfrm>
            <a:off x="685800" y="2011680"/>
            <a:ext cx="73152" cy="1417320"/>
          </a:xfrm>
          <a:prstGeom prst="rect">
            <a:avLst/>
          </a:prstGeom>
          <a:solidFill>
            <a:srgbClr val="16C60C"/>
          </a:solidFill>
          <a:ln w="12700">
            <a:solidFill>
              <a:srgbClr val="16C60C"/>
            </a:solidFill>
            <a:prstDash val="solid"/>
          </a:ln>
        </p:spPr>
        <p:txBody>
          <a:bodyPr/>
          <a:lstStyle/>
          <a:p>
            <a:endParaRPr lang="en-US"/>
          </a:p>
        </p:txBody>
      </p:sp>
      <p:sp>
        <p:nvSpPr>
          <p:cNvPr id="6" name="Text 4"/>
          <p:cNvSpPr/>
          <p:nvPr/>
        </p:nvSpPr>
        <p:spPr>
          <a:xfrm>
            <a:off x="914400" y="217627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Project constraints</a:t>
            </a:r>
            <a:endParaRPr lang="en-US" sz="1300" dirty="0"/>
          </a:p>
        </p:txBody>
      </p:sp>
      <p:sp>
        <p:nvSpPr>
          <p:cNvPr id="7" name="Text 5"/>
          <p:cNvSpPr/>
          <p:nvPr/>
        </p:nvSpPr>
        <p:spPr>
          <a:xfrm>
            <a:off x="914400" y="249631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01</a:t>
            </a:r>
            <a:endParaRPr lang="en-US" sz="850" dirty="0"/>
          </a:p>
        </p:txBody>
      </p:sp>
      <p:sp>
        <p:nvSpPr>
          <p:cNvPr id="8" name="Text 6"/>
          <p:cNvSpPr/>
          <p:nvPr/>
        </p:nvSpPr>
        <p:spPr>
          <a:xfrm>
            <a:off x="914400" y="2816352"/>
            <a:ext cx="2926080" cy="457200"/>
          </a:xfrm>
          <a:prstGeom prst="rect">
            <a:avLst/>
          </a:prstGeom>
          <a:noFill/>
          <a:ln/>
        </p:spPr>
        <p:txBody>
          <a:bodyPr wrap="square" lIns="0" tIns="0" rIns="0" bIns="0" rtlCol="0" anchor="t">
            <a:normAutofit/>
          </a:bodyPr>
          <a:lstStyle/>
          <a:p>
            <a:pPr marL="0" indent="0">
              <a:buNone/>
            </a:pPr>
            <a:r>
              <a:rPr lang="en-US" sz="950" dirty="0">
                <a:solidFill>
                  <a:srgbClr val="6F7771"/>
                </a:solidFill>
              </a:rPr>
              <a:t>Review access, neighbours, highway, programme and operational constraints.</a:t>
            </a:r>
            <a:endParaRPr lang="en-US" sz="950" dirty="0"/>
          </a:p>
        </p:txBody>
      </p:sp>
      <p:sp>
        <p:nvSpPr>
          <p:cNvPr id="9" name="Shape 7"/>
          <p:cNvSpPr/>
          <p:nvPr/>
        </p:nvSpPr>
        <p:spPr>
          <a:xfrm>
            <a:off x="4434840" y="20116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10" name="Shape 8"/>
          <p:cNvSpPr/>
          <p:nvPr/>
        </p:nvSpPr>
        <p:spPr>
          <a:xfrm>
            <a:off x="4434840" y="2011680"/>
            <a:ext cx="73152" cy="1417320"/>
          </a:xfrm>
          <a:prstGeom prst="rect">
            <a:avLst/>
          </a:prstGeom>
          <a:solidFill>
            <a:srgbClr val="16C60C"/>
          </a:solidFill>
          <a:ln w="12700">
            <a:solidFill>
              <a:srgbClr val="16C60C"/>
            </a:solidFill>
            <a:prstDash val="solid"/>
          </a:ln>
        </p:spPr>
        <p:txBody>
          <a:bodyPr/>
          <a:lstStyle/>
          <a:p>
            <a:endParaRPr lang="en-US"/>
          </a:p>
        </p:txBody>
      </p:sp>
      <p:sp>
        <p:nvSpPr>
          <p:cNvPr id="11" name="Text 9"/>
          <p:cNvSpPr/>
          <p:nvPr/>
        </p:nvSpPr>
        <p:spPr>
          <a:xfrm>
            <a:off x="4663440" y="217627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Logistics methodology</a:t>
            </a:r>
            <a:endParaRPr lang="en-US" sz="1300" dirty="0"/>
          </a:p>
        </p:txBody>
      </p:sp>
      <p:sp>
        <p:nvSpPr>
          <p:cNvPr id="12" name="Text 10"/>
          <p:cNvSpPr/>
          <p:nvPr/>
        </p:nvSpPr>
        <p:spPr>
          <a:xfrm>
            <a:off x="4663440" y="249631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02</a:t>
            </a:r>
            <a:endParaRPr lang="en-US" sz="850" dirty="0"/>
          </a:p>
        </p:txBody>
      </p:sp>
      <p:sp>
        <p:nvSpPr>
          <p:cNvPr id="13" name="Text 11"/>
          <p:cNvSpPr/>
          <p:nvPr/>
        </p:nvSpPr>
        <p:spPr>
          <a:xfrm>
            <a:off x="4663440" y="2816352"/>
            <a:ext cx="2926080" cy="457200"/>
          </a:xfrm>
          <a:prstGeom prst="rect">
            <a:avLst/>
          </a:prstGeom>
          <a:noFill/>
          <a:ln/>
        </p:spPr>
        <p:txBody>
          <a:bodyPr wrap="square" lIns="0" tIns="0" rIns="0" bIns="0" rtlCol="0" anchor="t">
            <a:normAutofit/>
          </a:bodyPr>
          <a:lstStyle/>
          <a:p>
            <a:pPr marL="0" indent="0">
              <a:buNone/>
            </a:pPr>
            <a:r>
              <a:rPr lang="en-US" sz="950" dirty="0">
                <a:solidFill>
                  <a:srgbClr val="6F7771"/>
                </a:solidFill>
              </a:rPr>
              <a:t>Develop a credible delivery strategy aligned to the construction sequence.</a:t>
            </a:r>
            <a:endParaRPr lang="en-US" sz="950" dirty="0"/>
          </a:p>
        </p:txBody>
      </p:sp>
      <p:sp>
        <p:nvSpPr>
          <p:cNvPr id="14" name="Shape 12"/>
          <p:cNvSpPr/>
          <p:nvPr/>
        </p:nvSpPr>
        <p:spPr>
          <a:xfrm>
            <a:off x="8183880" y="20116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15" name="Shape 13"/>
          <p:cNvSpPr/>
          <p:nvPr/>
        </p:nvSpPr>
        <p:spPr>
          <a:xfrm>
            <a:off x="8183880" y="2011680"/>
            <a:ext cx="73152" cy="1417320"/>
          </a:xfrm>
          <a:prstGeom prst="rect">
            <a:avLst/>
          </a:prstGeom>
          <a:solidFill>
            <a:srgbClr val="16C60C"/>
          </a:solidFill>
          <a:ln w="12700">
            <a:solidFill>
              <a:srgbClr val="16C60C"/>
            </a:solidFill>
            <a:prstDash val="solid"/>
          </a:ln>
        </p:spPr>
        <p:txBody>
          <a:bodyPr/>
          <a:lstStyle/>
          <a:p>
            <a:endParaRPr lang="en-US"/>
          </a:p>
        </p:txBody>
      </p:sp>
      <p:sp>
        <p:nvSpPr>
          <p:cNvPr id="16" name="Text 14"/>
          <p:cNvSpPr/>
          <p:nvPr/>
        </p:nvSpPr>
        <p:spPr>
          <a:xfrm>
            <a:off x="8412480" y="217627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Tender submissions</a:t>
            </a:r>
            <a:endParaRPr lang="en-US" sz="1300" dirty="0"/>
          </a:p>
        </p:txBody>
      </p:sp>
      <p:sp>
        <p:nvSpPr>
          <p:cNvPr id="17" name="Text 15"/>
          <p:cNvSpPr/>
          <p:nvPr/>
        </p:nvSpPr>
        <p:spPr>
          <a:xfrm>
            <a:off x="8412480" y="249631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03</a:t>
            </a:r>
            <a:endParaRPr lang="en-US" sz="850" dirty="0"/>
          </a:p>
        </p:txBody>
      </p:sp>
      <p:sp>
        <p:nvSpPr>
          <p:cNvPr id="18" name="Text 16"/>
          <p:cNvSpPr/>
          <p:nvPr/>
        </p:nvSpPr>
        <p:spPr>
          <a:xfrm>
            <a:off x="8412480" y="2816352"/>
            <a:ext cx="2926080" cy="457200"/>
          </a:xfrm>
          <a:prstGeom prst="rect">
            <a:avLst/>
          </a:prstGeom>
          <a:noFill/>
          <a:ln/>
        </p:spPr>
        <p:txBody>
          <a:bodyPr wrap="square" lIns="0" tIns="0" rIns="0" bIns="0" rtlCol="0" anchor="t">
            <a:normAutofit/>
          </a:bodyPr>
          <a:lstStyle/>
          <a:p>
            <a:pPr marL="0" indent="0">
              <a:buNone/>
            </a:pPr>
            <a:r>
              <a:rPr lang="en-US" sz="950" dirty="0">
                <a:solidFill>
                  <a:srgbClr val="6F7771"/>
                </a:solidFill>
              </a:rPr>
              <a:t>Provide technical responses, diagrams and narrative for bid documentation.</a:t>
            </a:r>
            <a:endParaRPr lang="en-US" sz="950" dirty="0"/>
          </a:p>
        </p:txBody>
      </p:sp>
      <p:sp>
        <p:nvSpPr>
          <p:cNvPr id="19" name="Shape 17"/>
          <p:cNvSpPr/>
          <p:nvPr/>
        </p:nvSpPr>
        <p:spPr>
          <a:xfrm>
            <a:off x="685800" y="38404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20" name="Shape 18"/>
          <p:cNvSpPr/>
          <p:nvPr/>
        </p:nvSpPr>
        <p:spPr>
          <a:xfrm>
            <a:off x="685800" y="3840480"/>
            <a:ext cx="73152" cy="1417320"/>
          </a:xfrm>
          <a:prstGeom prst="rect">
            <a:avLst/>
          </a:prstGeom>
          <a:solidFill>
            <a:srgbClr val="16C60C"/>
          </a:solidFill>
          <a:ln w="12700">
            <a:solidFill>
              <a:srgbClr val="16C60C"/>
            </a:solidFill>
            <a:prstDash val="solid"/>
          </a:ln>
        </p:spPr>
        <p:txBody>
          <a:bodyPr/>
          <a:lstStyle/>
          <a:p>
            <a:endParaRPr lang="en-US"/>
          </a:p>
        </p:txBody>
      </p:sp>
      <p:sp>
        <p:nvSpPr>
          <p:cNvPr id="21" name="Text 19"/>
          <p:cNvSpPr/>
          <p:nvPr/>
        </p:nvSpPr>
        <p:spPr>
          <a:xfrm>
            <a:off x="914400" y="400507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Site establishment</a:t>
            </a:r>
            <a:endParaRPr lang="en-US" sz="1300" dirty="0"/>
          </a:p>
        </p:txBody>
      </p:sp>
      <p:sp>
        <p:nvSpPr>
          <p:cNvPr id="22" name="Text 20"/>
          <p:cNvSpPr/>
          <p:nvPr/>
        </p:nvSpPr>
        <p:spPr>
          <a:xfrm>
            <a:off x="914400" y="432511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04</a:t>
            </a:r>
            <a:endParaRPr lang="en-US" sz="850" dirty="0"/>
          </a:p>
        </p:txBody>
      </p:sp>
      <p:sp>
        <p:nvSpPr>
          <p:cNvPr id="23" name="Text 21"/>
          <p:cNvSpPr/>
          <p:nvPr/>
        </p:nvSpPr>
        <p:spPr>
          <a:xfrm>
            <a:off x="914400" y="4645152"/>
            <a:ext cx="2926080" cy="457200"/>
          </a:xfrm>
          <a:prstGeom prst="rect">
            <a:avLst/>
          </a:prstGeom>
          <a:noFill/>
          <a:ln/>
        </p:spPr>
        <p:txBody>
          <a:bodyPr wrap="square" lIns="0" tIns="0" rIns="0" bIns="0" rtlCol="0" anchor="t">
            <a:normAutofit/>
          </a:bodyPr>
          <a:lstStyle/>
          <a:p>
            <a:pPr marL="0" indent="0">
              <a:buNone/>
            </a:pPr>
            <a:r>
              <a:rPr lang="en-US" sz="950" dirty="0">
                <a:solidFill>
                  <a:srgbClr val="6F7771"/>
                </a:solidFill>
              </a:rPr>
              <a:t>Test gates, hoists, cranes, welfare, storage and material movement strategies.</a:t>
            </a:r>
            <a:endParaRPr lang="en-US" sz="950" dirty="0"/>
          </a:p>
        </p:txBody>
      </p:sp>
      <p:sp>
        <p:nvSpPr>
          <p:cNvPr id="24" name="Shape 22"/>
          <p:cNvSpPr/>
          <p:nvPr/>
        </p:nvSpPr>
        <p:spPr>
          <a:xfrm>
            <a:off x="4434840" y="38404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25" name="Shape 23"/>
          <p:cNvSpPr/>
          <p:nvPr/>
        </p:nvSpPr>
        <p:spPr>
          <a:xfrm>
            <a:off x="4434840" y="3840480"/>
            <a:ext cx="73152" cy="1417320"/>
          </a:xfrm>
          <a:prstGeom prst="rect">
            <a:avLst/>
          </a:prstGeom>
          <a:solidFill>
            <a:srgbClr val="16C60C"/>
          </a:solidFill>
          <a:ln w="12700">
            <a:solidFill>
              <a:srgbClr val="16C60C"/>
            </a:solidFill>
            <a:prstDash val="solid"/>
          </a:ln>
        </p:spPr>
        <p:txBody>
          <a:bodyPr/>
          <a:lstStyle/>
          <a:p>
            <a:endParaRPr lang="en-US"/>
          </a:p>
        </p:txBody>
      </p:sp>
      <p:sp>
        <p:nvSpPr>
          <p:cNvPr id="26" name="Text 24"/>
          <p:cNvSpPr/>
          <p:nvPr/>
        </p:nvSpPr>
        <p:spPr>
          <a:xfrm>
            <a:off x="4663440" y="400507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Delivery planning</a:t>
            </a:r>
            <a:endParaRPr lang="en-US" sz="1300" dirty="0"/>
          </a:p>
        </p:txBody>
      </p:sp>
      <p:sp>
        <p:nvSpPr>
          <p:cNvPr id="27" name="Text 25"/>
          <p:cNvSpPr/>
          <p:nvPr/>
        </p:nvSpPr>
        <p:spPr>
          <a:xfrm>
            <a:off x="4663440" y="432511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05</a:t>
            </a:r>
            <a:endParaRPr lang="en-US" sz="850" dirty="0"/>
          </a:p>
        </p:txBody>
      </p:sp>
      <p:sp>
        <p:nvSpPr>
          <p:cNvPr id="28" name="Text 26"/>
          <p:cNvSpPr/>
          <p:nvPr/>
        </p:nvSpPr>
        <p:spPr>
          <a:xfrm>
            <a:off x="4663440" y="4645152"/>
            <a:ext cx="2926080" cy="457200"/>
          </a:xfrm>
          <a:prstGeom prst="rect">
            <a:avLst/>
          </a:prstGeom>
          <a:noFill/>
          <a:ln/>
        </p:spPr>
        <p:txBody>
          <a:bodyPr wrap="square" lIns="0" tIns="0" rIns="0" bIns="0" rtlCol="0" anchor="t">
            <a:normAutofit/>
          </a:bodyPr>
          <a:lstStyle/>
          <a:p>
            <a:pPr marL="0" indent="0">
              <a:buNone/>
            </a:pPr>
            <a:r>
              <a:rPr lang="en-US" sz="950" dirty="0">
                <a:solidFill>
                  <a:srgbClr val="6F7771"/>
                </a:solidFill>
              </a:rPr>
              <a:t>Estimate logistics demand, vehicle types, booking controls and peak movements.</a:t>
            </a:r>
            <a:endParaRPr lang="en-US" sz="950" dirty="0"/>
          </a:p>
        </p:txBody>
      </p:sp>
      <p:sp>
        <p:nvSpPr>
          <p:cNvPr id="29" name="Shape 27"/>
          <p:cNvSpPr/>
          <p:nvPr/>
        </p:nvSpPr>
        <p:spPr>
          <a:xfrm>
            <a:off x="8183880" y="38404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30" name="Shape 28"/>
          <p:cNvSpPr/>
          <p:nvPr/>
        </p:nvSpPr>
        <p:spPr>
          <a:xfrm>
            <a:off x="8183880" y="3840480"/>
            <a:ext cx="73152" cy="1417320"/>
          </a:xfrm>
          <a:prstGeom prst="rect">
            <a:avLst/>
          </a:prstGeom>
          <a:solidFill>
            <a:srgbClr val="16C60C"/>
          </a:solidFill>
          <a:ln w="12700">
            <a:solidFill>
              <a:srgbClr val="16C60C"/>
            </a:solidFill>
            <a:prstDash val="solid"/>
          </a:ln>
        </p:spPr>
        <p:txBody>
          <a:bodyPr/>
          <a:lstStyle/>
          <a:p>
            <a:endParaRPr lang="en-US"/>
          </a:p>
        </p:txBody>
      </p:sp>
      <p:sp>
        <p:nvSpPr>
          <p:cNvPr id="31" name="Text 29"/>
          <p:cNvSpPr/>
          <p:nvPr/>
        </p:nvSpPr>
        <p:spPr>
          <a:xfrm>
            <a:off x="8412480" y="400507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Design coordination</a:t>
            </a:r>
            <a:endParaRPr lang="en-US" sz="1300" dirty="0"/>
          </a:p>
        </p:txBody>
      </p:sp>
      <p:sp>
        <p:nvSpPr>
          <p:cNvPr id="32" name="Text 30"/>
          <p:cNvSpPr/>
          <p:nvPr/>
        </p:nvSpPr>
        <p:spPr>
          <a:xfrm>
            <a:off x="8412480" y="432511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06</a:t>
            </a:r>
            <a:endParaRPr lang="en-US" sz="850" dirty="0"/>
          </a:p>
        </p:txBody>
      </p:sp>
      <p:sp>
        <p:nvSpPr>
          <p:cNvPr id="33" name="Text 31"/>
          <p:cNvSpPr/>
          <p:nvPr/>
        </p:nvSpPr>
        <p:spPr>
          <a:xfrm>
            <a:off x="8412480" y="4645152"/>
            <a:ext cx="2926080" cy="457200"/>
          </a:xfrm>
          <a:prstGeom prst="rect">
            <a:avLst/>
          </a:prstGeom>
          <a:noFill/>
          <a:ln/>
        </p:spPr>
        <p:txBody>
          <a:bodyPr wrap="square" lIns="0" tIns="0" rIns="0" bIns="0" rtlCol="0" anchor="t">
            <a:normAutofit/>
          </a:bodyPr>
          <a:lstStyle/>
          <a:p>
            <a:pPr marL="0" indent="0">
              <a:buNone/>
            </a:pPr>
            <a:r>
              <a:rPr lang="en-US" sz="950" dirty="0">
                <a:solidFill>
                  <a:srgbClr val="6F7771"/>
                </a:solidFill>
              </a:rPr>
              <a:t>Identify interfaces early and feed logistics requirements back into design.</a:t>
            </a:r>
            <a:endParaRPr lang="en-US" sz="950" dirty="0"/>
          </a:p>
        </p:txBody>
      </p:sp>
      <p:sp>
        <p:nvSpPr>
          <p:cNvPr id="34"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WHO WE SUPPORT</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Flexible specialist resource for project teams.</a:t>
            </a:r>
            <a:endParaRPr lang="en-US" sz="2800" dirty="0"/>
          </a:p>
        </p:txBody>
      </p:sp>
      <p:sp>
        <p:nvSpPr>
          <p:cNvPr id="4" name="Shape 2"/>
          <p:cNvSpPr/>
          <p:nvPr/>
        </p:nvSpPr>
        <p:spPr>
          <a:xfrm>
            <a:off x="685800" y="1920240"/>
            <a:ext cx="333756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5" name="Shape 3"/>
          <p:cNvSpPr/>
          <p:nvPr/>
        </p:nvSpPr>
        <p:spPr>
          <a:xfrm>
            <a:off x="685800" y="1920240"/>
            <a:ext cx="73152" cy="1508760"/>
          </a:xfrm>
          <a:prstGeom prst="rect">
            <a:avLst/>
          </a:prstGeom>
          <a:solidFill>
            <a:srgbClr val="16C60C"/>
          </a:solidFill>
          <a:ln w="12700">
            <a:solidFill>
              <a:srgbClr val="16C60C"/>
            </a:solidFill>
            <a:prstDash val="solid"/>
          </a:ln>
        </p:spPr>
        <p:txBody>
          <a:bodyPr/>
          <a:lstStyle/>
          <a:p>
            <a:endParaRPr lang="en-US"/>
          </a:p>
        </p:txBody>
      </p:sp>
      <p:sp>
        <p:nvSpPr>
          <p:cNvPr id="6" name="Text 4"/>
          <p:cNvSpPr/>
          <p:nvPr/>
        </p:nvSpPr>
        <p:spPr>
          <a:xfrm>
            <a:off x="914400" y="208483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Developers</a:t>
            </a:r>
            <a:endParaRPr lang="en-US" sz="1300" dirty="0"/>
          </a:p>
        </p:txBody>
      </p:sp>
      <p:sp>
        <p:nvSpPr>
          <p:cNvPr id="7" name="Text 5"/>
          <p:cNvSpPr/>
          <p:nvPr/>
        </p:nvSpPr>
        <p:spPr>
          <a:xfrm>
            <a:off x="914400" y="240487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PARTNER MODEL</a:t>
            </a:r>
            <a:endParaRPr lang="en-US" sz="850" dirty="0"/>
          </a:p>
        </p:txBody>
      </p:sp>
      <p:sp>
        <p:nvSpPr>
          <p:cNvPr id="8" name="Text 6"/>
          <p:cNvSpPr/>
          <p:nvPr/>
        </p:nvSpPr>
        <p:spPr>
          <a:xfrm>
            <a:off x="914400" y="2724912"/>
            <a:ext cx="292608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Planning submissions, condition discharge, access and construction strategy.</a:t>
            </a:r>
            <a:endParaRPr lang="en-US" sz="950" dirty="0"/>
          </a:p>
        </p:txBody>
      </p:sp>
      <p:sp>
        <p:nvSpPr>
          <p:cNvPr id="9" name="Shape 7"/>
          <p:cNvSpPr/>
          <p:nvPr/>
        </p:nvSpPr>
        <p:spPr>
          <a:xfrm>
            <a:off x="4434840" y="1920240"/>
            <a:ext cx="333756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10" name="Shape 8"/>
          <p:cNvSpPr/>
          <p:nvPr/>
        </p:nvSpPr>
        <p:spPr>
          <a:xfrm>
            <a:off x="4434840" y="1920240"/>
            <a:ext cx="73152" cy="1508760"/>
          </a:xfrm>
          <a:prstGeom prst="rect">
            <a:avLst/>
          </a:prstGeom>
          <a:solidFill>
            <a:srgbClr val="16C60C"/>
          </a:solidFill>
          <a:ln w="12700">
            <a:solidFill>
              <a:srgbClr val="16C60C"/>
            </a:solidFill>
            <a:prstDash val="solid"/>
          </a:ln>
        </p:spPr>
        <p:txBody>
          <a:bodyPr/>
          <a:lstStyle/>
          <a:p>
            <a:endParaRPr lang="en-US"/>
          </a:p>
        </p:txBody>
      </p:sp>
      <p:sp>
        <p:nvSpPr>
          <p:cNvPr id="11" name="Text 9"/>
          <p:cNvSpPr/>
          <p:nvPr/>
        </p:nvSpPr>
        <p:spPr>
          <a:xfrm>
            <a:off x="4663440" y="208483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Project Managers</a:t>
            </a:r>
            <a:endParaRPr lang="en-US" sz="1300" dirty="0"/>
          </a:p>
        </p:txBody>
      </p:sp>
      <p:sp>
        <p:nvSpPr>
          <p:cNvPr id="12" name="Text 10"/>
          <p:cNvSpPr/>
          <p:nvPr/>
        </p:nvSpPr>
        <p:spPr>
          <a:xfrm>
            <a:off x="4663440" y="240487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PARTNER MODEL</a:t>
            </a:r>
            <a:endParaRPr lang="en-US" sz="850" dirty="0"/>
          </a:p>
        </p:txBody>
      </p:sp>
      <p:sp>
        <p:nvSpPr>
          <p:cNvPr id="13" name="Text 11"/>
          <p:cNvSpPr/>
          <p:nvPr/>
        </p:nvSpPr>
        <p:spPr>
          <a:xfrm>
            <a:off x="4663440" y="2724912"/>
            <a:ext cx="292608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Associate / overflow resource and technical logistics input.</a:t>
            </a:r>
            <a:endParaRPr lang="en-US" sz="950" dirty="0"/>
          </a:p>
        </p:txBody>
      </p:sp>
      <p:sp>
        <p:nvSpPr>
          <p:cNvPr id="14" name="Shape 12"/>
          <p:cNvSpPr/>
          <p:nvPr/>
        </p:nvSpPr>
        <p:spPr>
          <a:xfrm>
            <a:off x="8183880" y="1920240"/>
            <a:ext cx="333756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15" name="Shape 13"/>
          <p:cNvSpPr/>
          <p:nvPr/>
        </p:nvSpPr>
        <p:spPr>
          <a:xfrm>
            <a:off x="8183880" y="1920240"/>
            <a:ext cx="73152" cy="1508760"/>
          </a:xfrm>
          <a:prstGeom prst="rect">
            <a:avLst/>
          </a:prstGeom>
          <a:solidFill>
            <a:srgbClr val="16C60C"/>
          </a:solidFill>
          <a:ln w="12700">
            <a:solidFill>
              <a:srgbClr val="16C60C"/>
            </a:solidFill>
            <a:prstDash val="solid"/>
          </a:ln>
        </p:spPr>
        <p:txBody>
          <a:bodyPr/>
          <a:lstStyle/>
          <a:p>
            <a:endParaRPr lang="en-US"/>
          </a:p>
        </p:txBody>
      </p:sp>
      <p:sp>
        <p:nvSpPr>
          <p:cNvPr id="16" name="Text 14"/>
          <p:cNvSpPr/>
          <p:nvPr/>
        </p:nvSpPr>
        <p:spPr>
          <a:xfrm>
            <a:off x="8412480" y="208483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Planning Consultants</a:t>
            </a:r>
            <a:endParaRPr lang="en-US" sz="1300" dirty="0"/>
          </a:p>
        </p:txBody>
      </p:sp>
      <p:sp>
        <p:nvSpPr>
          <p:cNvPr id="17" name="Text 15"/>
          <p:cNvSpPr/>
          <p:nvPr/>
        </p:nvSpPr>
        <p:spPr>
          <a:xfrm>
            <a:off x="8412480" y="240487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PARTNER MODEL</a:t>
            </a:r>
            <a:endParaRPr lang="en-US" sz="850" dirty="0"/>
          </a:p>
        </p:txBody>
      </p:sp>
      <p:sp>
        <p:nvSpPr>
          <p:cNvPr id="18" name="Text 16"/>
          <p:cNvSpPr/>
          <p:nvPr/>
        </p:nvSpPr>
        <p:spPr>
          <a:xfrm>
            <a:off x="8412480" y="2724912"/>
            <a:ext cx="292608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Specialist documents and condition discharge support for client teams.</a:t>
            </a:r>
            <a:endParaRPr lang="en-US" sz="950" dirty="0"/>
          </a:p>
        </p:txBody>
      </p:sp>
      <p:sp>
        <p:nvSpPr>
          <p:cNvPr id="19" name="Shape 17"/>
          <p:cNvSpPr/>
          <p:nvPr/>
        </p:nvSpPr>
        <p:spPr>
          <a:xfrm>
            <a:off x="685800" y="3794760"/>
            <a:ext cx="333756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20" name="Shape 18"/>
          <p:cNvSpPr/>
          <p:nvPr/>
        </p:nvSpPr>
        <p:spPr>
          <a:xfrm>
            <a:off x="685800" y="3794760"/>
            <a:ext cx="73152" cy="1508760"/>
          </a:xfrm>
          <a:prstGeom prst="rect">
            <a:avLst/>
          </a:prstGeom>
          <a:solidFill>
            <a:srgbClr val="16C60C"/>
          </a:solidFill>
          <a:ln w="12700">
            <a:solidFill>
              <a:srgbClr val="16C60C"/>
            </a:solidFill>
            <a:prstDash val="solid"/>
          </a:ln>
        </p:spPr>
        <p:txBody>
          <a:bodyPr/>
          <a:lstStyle/>
          <a:p>
            <a:endParaRPr lang="en-US"/>
          </a:p>
        </p:txBody>
      </p:sp>
      <p:sp>
        <p:nvSpPr>
          <p:cNvPr id="21" name="Text 19"/>
          <p:cNvSpPr/>
          <p:nvPr/>
        </p:nvSpPr>
        <p:spPr>
          <a:xfrm>
            <a:off x="914400" y="395935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Main Contractors</a:t>
            </a:r>
            <a:endParaRPr lang="en-US" sz="1300" dirty="0"/>
          </a:p>
        </p:txBody>
      </p:sp>
      <p:sp>
        <p:nvSpPr>
          <p:cNvPr id="22" name="Text 20"/>
          <p:cNvSpPr/>
          <p:nvPr/>
        </p:nvSpPr>
        <p:spPr>
          <a:xfrm>
            <a:off x="914400" y="427939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PARTNER MODEL</a:t>
            </a:r>
            <a:endParaRPr lang="en-US" sz="850" dirty="0"/>
          </a:p>
        </p:txBody>
      </p:sp>
      <p:sp>
        <p:nvSpPr>
          <p:cNvPr id="23" name="Text 21"/>
          <p:cNvSpPr/>
          <p:nvPr/>
        </p:nvSpPr>
        <p:spPr>
          <a:xfrm>
            <a:off x="914400" y="4599432"/>
            <a:ext cx="292608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Tender logistics, methodology, mobilisation and live project reviews.</a:t>
            </a:r>
            <a:endParaRPr lang="en-US" sz="950" dirty="0"/>
          </a:p>
        </p:txBody>
      </p:sp>
      <p:sp>
        <p:nvSpPr>
          <p:cNvPr id="24" name="Shape 22"/>
          <p:cNvSpPr/>
          <p:nvPr/>
        </p:nvSpPr>
        <p:spPr>
          <a:xfrm>
            <a:off x="4434840" y="3794760"/>
            <a:ext cx="333756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25" name="Shape 23"/>
          <p:cNvSpPr/>
          <p:nvPr/>
        </p:nvSpPr>
        <p:spPr>
          <a:xfrm>
            <a:off x="4434840" y="3794760"/>
            <a:ext cx="73152" cy="1508760"/>
          </a:xfrm>
          <a:prstGeom prst="rect">
            <a:avLst/>
          </a:prstGeom>
          <a:solidFill>
            <a:srgbClr val="16C60C"/>
          </a:solidFill>
          <a:ln w="12700">
            <a:solidFill>
              <a:srgbClr val="16C60C"/>
            </a:solidFill>
            <a:prstDash val="solid"/>
          </a:ln>
        </p:spPr>
        <p:txBody>
          <a:bodyPr/>
          <a:lstStyle/>
          <a:p>
            <a:endParaRPr lang="en-US"/>
          </a:p>
        </p:txBody>
      </p:sp>
      <p:sp>
        <p:nvSpPr>
          <p:cNvPr id="26" name="Text 24"/>
          <p:cNvSpPr/>
          <p:nvPr/>
        </p:nvSpPr>
        <p:spPr>
          <a:xfrm>
            <a:off x="4663440" y="395935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Architects</a:t>
            </a:r>
            <a:endParaRPr lang="en-US" sz="1300" dirty="0"/>
          </a:p>
        </p:txBody>
      </p:sp>
      <p:sp>
        <p:nvSpPr>
          <p:cNvPr id="27" name="Text 25"/>
          <p:cNvSpPr/>
          <p:nvPr/>
        </p:nvSpPr>
        <p:spPr>
          <a:xfrm>
            <a:off x="4663440" y="427939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PARTNER MODEL</a:t>
            </a:r>
            <a:endParaRPr lang="en-US" sz="850" dirty="0"/>
          </a:p>
        </p:txBody>
      </p:sp>
      <p:sp>
        <p:nvSpPr>
          <p:cNvPr id="28" name="Text 26"/>
          <p:cNvSpPr/>
          <p:nvPr/>
        </p:nvSpPr>
        <p:spPr>
          <a:xfrm>
            <a:off x="4663440" y="4599432"/>
            <a:ext cx="292608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Early access, servicing and buildability input to support design development.</a:t>
            </a:r>
            <a:endParaRPr lang="en-US" sz="950" dirty="0"/>
          </a:p>
        </p:txBody>
      </p:sp>
      <p:sp>
        <p:nvSpPr>
          <p:cNvPr id="29" name="Shape 27"/>
          <p:cNvSpPr/>
          <p:nvPr/>
        </p:nvSpPr>
        <p:spPr>
          <a:xfrm>
            <a:off x="8183880" y="3794760"/>
            <a:ext cx="333756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30" name="Shape 28"/>
          <p:cNvSpPr/>
          <p:nvPr/>
        </p:nvSpPr>
        <p:spPr>
          <a:xfrm>
            <a:off x="8183880" y="3794760"/>
            <a:ext cx="73152" cy="1508760"/>
          </a:xfrm>
          <a:prstGeom prst="rect">
            <a:avLst/>
          </a:prstGeom>
          <a:solidFill>
            <a:srgbClr val="16C60C"/>
          </a:solidFill>
          <a:ln w="12700">
            <a:solidFill>
              <a:srgbClr val="16C60C"/>
            </a:solidFill>
            <a:prstDash val="solid"/>
          </a:ln>
        </p:spPr>
        <p:txBody>
          <a:bodyPr/>
          <a:lstStyle/>
          <a:p>
            <a:endParaRPr lang="en-US"/>
          </a:p>
        </p:txBody>
      </p:sp>
      <p:sp>
        <p:nvSpPr>
          <p:cNvPr id="31" name="Text 29"/>
          <p:cNvSpPr/>
          <p:nvPr/>
        </p:nvSpPr>
        <p:spPr>
          <a:xfrm>
            <a:off x="8412480" y="395935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Transport Consultants</a:t>
            </a:r>
            <a:endParaRPr lang="en-US" sz="1300" dirty="0"/>
          </a:p>
        </p:txBody>
      </p:sp>
      <p:sp>
        <p:nvSpPr>
          <p:cNvPr id="32" name="Text 30"/>
          <p:cNvSpPr/>
          <p:nvPr/>
        </p:nvSpPr>
        <p:spPr>
          <a:xfrm>
            <a:off x="8412480" y="427939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PARTNER MODEL</a:t>
            </a:r>
            <a:endParaRPr lang="en-US" sz="850" dirty="0"/>
          </a:p>
        </p:txBody>
      </p:sp>
      <p:sp>
        <p:nvSpPr>
          <p:cNvPr id="33" name="Text 31"/>
          <p:cNvSpPr/>
          <p:nvPr/>
        </p:nvSpPr>
        <p:spPr>
          <a:xfrm>
            <a:off x="8412480" y="4599432"/>
            <a:ext cx="292608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Construction-stage logistics expertise and vehicle tracking support.</a:t>
            </a:r>
            <a:endParaRPr lang="en-US" sz="950" dirty="0"/>
          </a:p>
        </p:txBody>
      </p:sp>
      <p:sp>
        <p:nvSpPr>
          <p:cNvPr id="34"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SECTOR EXPERIENCE</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Complex projects. Constrained environments. Practical delivery.</a:t>
            </a:r>
            <a:endParaRPr lang="en-US" sz="2800" dirty="0"/>
          </a:p>
        </p:txBody>
      </p:sp>
      <p:sp>
        <p:nvSpPr>
          <p:cNvPr id="4" name="Shape 2"/>
          <p:cNvSpPr/>
          <p:nvPr/>
        </p:nvSpPr>
        <p:spPr>
          <a:xfrm>
            <a:off x="685800" y="20116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5" name="Text 3"/>
          <p:cNvSpPr/>
          <p:nvPr/>
        </p:nvSpPr>
        <p:spPr>
          <a:xfrm>
            <a:off x="868680" y="2240280"/>
            <a:ext cx="2926080" cy="292608"/>
          </a:xfrm>
          <a:prstGeom prst="rect">
            <a:avLst/>
          </a:prstGeom>
          <a:noFill/>
          <a:ln/>
        </p:spPr>
        <p:txBody>
          <a:bodyPr wrap="square" lIns="0" tIns="0" rIns="0" bIns="0" rtlCol="0" anchor="ctr"/>
          <a:lstStyle/>
          <a:p>
            <a:pPr marL="0" indent="0">
              <a:buNone/>
            </a:pPr>
            <a:r>
              <a:rPr lang="en-US" sz="1500" b="1" dirty="0">
                <a:solidFill>
                  <a:srgbClr val="151A17"/>
                </a:solidFill>
              </a:rPr>
              <a:t>Commercial</a:t>
            </a:r>
            <a:endParaRPr lang="en-US" sz="1500" dirty="0"/>
          </a:p>
        </p:txBody>
      </p:sp>
      <p:sp>
        <p:nvSpPr>
          <p:cNvPr id="6" name="Text 4"/>
          <p:cNvSpPr/>
          <p:nvPr/>
        </p:nvSpPr>
        <p:spPr>
          <a:xfrm>
            <a:off x="868680" y="2697480"/>
            <a:ext cx="2880360" cy="457200"/>
          </a:xfrm>
          <a:prstGeom prst="rect">
            <a:avLst/>
          </a:prstGeom>
          <a:noFill/>
          <a:ln/>
        </p:spPr>
        <p:txBody>
          <a:bodyPr wrap="square" lIns="0" tIns="0" rIns="0" bIns="0" rtlCol="0" anchor="ctr">
            <a:normAutofit/>
          </a:bodyPr>
          <a:lstStyle/>
          <a:p>
            <a:pPr marL="0" indent="0">
              <a:buNone/>
            </a:pPr>
            <a:r>
              <a:rPr lang="en-US" sz="1050" dirty="0">
                <a:solidFill>
                  <a:srgbClr val="6F7771"/>
                </a:solidFill>
              </a:rPr>
              <a:t>Central London offices and high-density urban schemes</a:t>
            </a:r>
            <a:endParaRPr lang="en-US" sz="1050" dirty="0"/>
          </a:p>
        </p:txBody>
      </p:sp>
      <p:sp>
        <p:nvSpPr>
          <p:cNvPr id="7" name="Shape 5"/>
          <p:cNvSpPr/>
          <p:nvPr/>
        </p:nvSpPr>
        <p:spPr>
          <a:xfrm>
            <a:off x="4434840" y="20116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8" name="Text 6"/>
          <p:cNvSpPr/>
          <p:nvPr/>
        </p:nvSpPr>
        <p:spPr>
          <a:xfrm>
            <a:off x="4617720" y="2240280"/>
            <a:ext cx="2926080" cy="292608"/>
          </a:xfrm>
          <a:prstGeom prst="rect">
            <a:avLst/>
          </a:prstGeom>
          <a:noFill/>
          <a:ln/>
        </p:spPr>
        <p:txBody>
          <a:bodyPr wrap="square" lIns="0" tIns="0" rIns="0" bIns="0" rtlCol="0" anchor="ctr"/>
          <a:lstStyle/>
          <a:p>
            <a:pPr marL="0" indent="0">
              <a:buNone/>
            </a:pPr>
            <a:r>
              <a:rPr lang="en-US" sz="1500" b="1" dirty="0">
                <a:solidFill>
                  <a:srgbClr val="151A17"/>
                </a:solidFill>
              </a:rPr>
              <a:t>Residential &amp; Mixed Use</a:t>
            </a:r>
            <a:endParaRPr lang="en-US" sz="1500" dirty="0"/>
          </a:p>
        </p:txBody>
      </p:sp>
      <p:sp>
        <p:nvSpPr>
          <p:cNvPr id="9" name="Text 7"/>
          <p:cNvSpPr/>
          <p:nvPr/>
        </p:nvSpPr>
        <p:spPr>
          <a:xfrm>
            <a:off x="4617720" y="2697480"/>
            <a:ext cx="2880360" cy="457200"/>
          </a:xfrm>
          <a:prstGeom prst="rect">
            <a:avLst/>
          </a:prstGeom>
          <a:noFill/>
          <a:ln/>
        </p:spPr>
        <p:txBody>
          <a:bodyPr wrap="square" lIns="0" tIns="0" rIns="0" bIns="0" rtlCol="0" anchor="ctr">
            <a:normAutofit/>
          </a:bodyPr>
          <a:lstStyle/>
          <a:p>
            <a:pPr marL="0" indent="0">
              <a:buNone/>
            </a:pPr>
            <a:r>
              <a:rPr lang="en-US" sz="1050" dirty="0">
                <a:solidFill>
                  <a:srgbClr val="6F7771"/>
                </a:solidFill>
              </a:rPr>
              <a:t>Multi-phase residential and regeneration projects</a:t>
            </a:r>
            <a:endParaRPr lang="en-US" sz="1050" dirty="0"/>
          </a:p>
        </p:txBody>
      </p:sp>
      <p:sp>
        <p:nvSpPr>
          <p:cNvPr id="10" name="Shape 8"/>
          <p:cNvSpPr/>
          <p:nvPr/>
        </p:nvSpPr>
        <p:spPr>
          <a:xfrm>
            <a:off x="8183880" y="2011680"/>
            <a:ext cx="3337560" cy="1417320"/>
          </a:xfrm>
          <a:prstGeom prst="roundRect">
            <a:avLst>
              <a:gd name="adj" fmla="val 3871"/>
            </a:avLst>
          </a:prstGeom>
          <a:solidFill>
            <a:srgbClr val="EAF8E9"/>
          </a:solidFill>
          <a:ln w="12700">
            <a:solidFill>
              <a:srgbClr val="16C60C"/>
            </a:solidFill>
            <a:prstDash val="solid"/>
          </a:ln>
        </p:spPr>
        <p:txBody>
          <a:bodyPr/>
          <a:lstStyle/>
          <a:p>
            <a:endParaRPr lang="en-US"/>
          </a:p>
        </p:txBody>
      </p:sp>
      <p:sp>
        <p:nvSpPr>
          <p:cNvPr id="11" name="Text 9"/>
          <p:cNvSpPr/>
          <p:nvPr/>
        </p:nvSpPr>
        <p:spPr>
          <a:xfrm>
            <a:off x="8366760" y="2240280"/>
            <a:ext cx="2926080" cy="292608"/>
          </a:xfrm>
          <a:prstGeom prst="rect">
            <a:avLst/>
          </a:prstGeom>
          <a:noFill/>
          <a:ln/>
        </p:spPr>
        <p:txBody>
          <a:bodyPr wrap="square" lIns="0" tIns="0" rIns="0" bIns="0" rtlCol="0" anchor="ctr"/>
          <a:lstStyle/>
          <a:p>
            <a:pPr marL="0" indent="0">
              <a:buNone/>
            </a:pPr>
            <a:r>
              <a:rPr lang="en-US" sz="1500" b="1" dirty="0">
                <a:solidFill>
                  <a:srgbClr val="16C60C"/>
                </a:solidFill>
              </a:rPr>
              <a:t>Data Centres</a:t>
            </a:r>
            <a:endParaRPr lang="en-US" sz="1500" dirty="0"/>
          </a:p>
        </p:txBody>
      </p:sp>
      <p:sp>
        <p:nvSpPr>
          <p:cNvPr id="12" name="Text 10"/>
          <p:cNvSpPr/>
          <p:nvPr/>
        </p:nvSpPr>
        <p:spPr>
          <a:xfrm>
            <a:off x="8366760" y="2697480"/>
            <a:ext cx="2880360" cy="457200"/>
          </a:xfrm>
          <a:prstGeom prst="rect">
            <a:avLst/>
          </a:prstGeom>
          <a:noFill/>
          <a:ln/>
        </p:spPr>
        <p:txBody>
          <a:bodyPr wrap="square" lIns="0" tIns="0" rIns="0" bIns="0" rtlCol="0" anchor="ctr">
            <a:normAutofit/>
          </a:bodyPr>
          <a:lstStyle/>
          <a:p>
            <a:pPr marL="0" indent="0">
              <a:buNone/>
            </a:pPr>
            <a:r>
              <a:rPr lang="en-US" sz="1050" dirty="0">
                <a:solidFill>
                  <a:srgbClr val="6F7771"/>
                </a:solidFill>
              </a:rPr>
              <a:t>High-volume logistics, constrained programmes and specialist delivery</a:t>
            </a:r>
            <a:endParaRPr lang="en-US" sz="1050" dirty="0"/>
          </a:p>
        </p:txBody>
      </p:sp>
      <p:sp>
        <p:nvSpPr>
          <p:cNvPr id="13" name="Shape 11"/>
          <p:cNvSpPr/>
          <p:nvPr/>
        </p:nvSpPr>
        <p:spPr>
          <a:xfrm>
            <a:off x="685800" y="38404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14" name="Text 12"/>
          <p:cNvSpPr/>
          <p:nvPr/>
        </p:nvSpPr>
        <p:spPr>
          <a:xfrm>
            <a:off x="868680" y="4069080"/>
            <a:ext cx="2926080" cy="292608"/>
          </a:xfrm>
          <a:prstGeom prst="rect">
            <a:avLst/>
          </a:prstGeom>
          <a:noFill/>
          <a:ln/>
        </p:spPr>
        <p:txBody>
          <a:bodyPr wrap="square" lIns="0" tIns="0" rIns="0" bIns="0" rtlCol="0" anchor="ctr"/>
          <a:lstStyle/>
          <a:p>
            <a:pPr marL="0" indent="0">
              <a:buNone/>
            </a:pPr>
            <a:r>
              <a:rPr lang="en-US" sz="1500" b="1" dirty="0">
                <a:solidFill>
                  <a:srgbClr val="151A17"/>
                </a:solidFill>
              </a:rPr>
              <a:t>Infrastructure</a:t>
            </a:r>
            <a:endParaRPr lang="en-US" sz="1500" dirty="0"/>
          </a:p>
        </p:txBody>
      </p:sp>
      <p:sp>
        <p:nvSpPr>
          <p:cNvPr id="15" name="Text 13"/>
          <p:cNvSpPr/>
          <p:nvPr/>
        </p:nvSpPr>
        <p:spPr>
          <a:xfrm>
            <a:off x="868680" y="4526280"/>
            <a:ext cx="2880360" cy="457200"/>
          </a:xfrm>
          <a:prstGeom prst="rect">
            <a:avLst/>
          </a:prstGeom>
          <a:noFill/>
          <a:ln/>
        </p:spPr>
        <p:txBody>
          <a:bodyPr wrap="square" lIns="0" tIns="0" rIns="0" bIns="0" rtlCol="0" anchor="ctr">
            <a:normAutofit/>
          </a:bodyPr>
          <a:lstStyle/>
          <a:p>
            <a:pPr marL="0" indent="0">
              <a:buNone/>
            </a:pPr>
            <a:r>
              <a:rPr lang="en-US" sz="1050" dirty="0">
                <a:solidFill>
                  <a:srgbClr val="6F7771"/>
                </a:solidFill>
              </a:rPr>
              <a:t>Highway interfaces, major stakeholder environments and public realm</a:t>
            </a:r>
            <a:endParaRPr lang="en-US" sz="1050" dirty="0"/>
          </a:p>
        </p:txBody>
      </p:sp>
      <p:sp>
        <p:nvSpPr>
          <p:cNvPr id="16" name="Shape 14"/>
          <p:cNvSpPr/>
          <p:nvPr/>
        </p:nvSpPr>
        <p:spPr>
          <a:xfrm>
            <a:off x="4434840" y="38404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17" name="Text 15"/>
          <p:cNvSpPr/>
          <p:nvPr/>
        </p:nvSpPr>
        <p:spPr>
          <a:xfrm>
            <a:off x="4617720" y="4069080"/>
            <a:ext cx="2926080" cy="292608"/>
          </a:xfrm>
          <a:prstGeom prst="rect">
            <a:avLst/>
          </a:prstGeom>
          <a:noFill/>
          <a:ln/>
        </p:spPr>
        <p:txBody>
          <a:bodyPr wrap="square" lIns="0" tIns="0" rIns="0" bIns="0" rtlCol="0" anchor="ctr"/>
          <a:lstStyle/>
          <a:p>
            <a:pPr marL="0" indent="0">
              <a:buNone/>
            </a:pPr>
            <a:r>
              <a:rPr lang="en-US" sz="1500" b="1" dirty="0">
                <a:solidFill>
                  <a:srgbClr val="151A17"/>
                </a:solidFill>
              </a:rPr>
              <a:t>Retail &amp; Leisure</a:t>
            </a:r>
            <a:endParaRPr lang="en-US" sz="1500" dirty="0"/>
          </a:p>
        </p:txBody>
      </p:sp>
      <p:sp>
        <p:nvSpPr>
          <p:cNvPr id="18" name="Text 16"/>
          <p:cNvSpPr/>
          <p:nvPr/>
        </p:nvSpPr>
        <p:spPr>
          <a:xfrm>
            <a:off x="4617720" y="4526280"/>
            <a:ext cx="2880360" cy="457200"/>
          </a:xfrm>
          <a:prstGeom prst="rect">
            <a:avLst/>
          </a:prstGeom>
          <a:noFill/>
          <a:ln/>
        </p:spPr>
        <p:txBody>
          <a:bodyPr wrap="square" lIns="0" tIns="0" rIns="0" bIns="0" rtlCol="0" anchor="ctr">
            <a:normAutofit/>
          </a:bodyPr>
          <a:lstStyle/>
          <a:p>
            <a:pPr marL="0" indent="0">
              <a:buNone/>
            </a:pPr>
            <a:r>
              <a:rPr lang="en-US" sz="1050" dirty="0">
                <a:solidFill>
                  <a:srgbClr val="6F7771"/>
                </a:solidFill>
              </a:rPr>
              <a:t>Operational interfaces, public access and servicing constraints</a:t>
            </a:r>
            <a:endParaRPr lang="en-US" sz="1050" dirty="0"/>
          </a:p>
        </p:txBody>
      </p:sp>
      <p:sp>
        <p:nvSpPr>
          <p:cNvPr id="19" name="Shape 17"/>
          <p:cNvSpPr/>
          <p:nvPr/>
        </p:nvSpPr>
        <p:spPr>
          <a:xfrm>
            <a:off x="8183880" y="3840480"/>
            <a:ext cx="3337560" cy="1417320"/>
          </a:xfrm>
          <a:prstGeom prst="roundRect">
            <a:avLst>
              <a:gd name="adj" fmla="val 3871"/>
            </a:avLst>
          </a:prstGeom>
          <a:solidFill>
            <a:srgbClr val="FFFFFF"/>
          </a:solidFill>
          <a:ln w="12700">
            <a:solidFill>
              <a:srgbClr val="DDE2DE"/>
            </a:solidFill>
            <a:prstDash val="solid"/>
          </a:ln>
        </p:spPr>
        <p:txBody>
          <a:bodyPr/>
          <a:lstStyle/>
          <a:p>
            <a:endParaRPr lang="en-US"/>
          </a:p>
        </p:txBody>
      </p:sp>
      <p:sp>
        <p:nvSpPr>
          <p:cNvPr id="20" name="Text 18"/>
          <p:cNvSpPr/>
          <p:nvPr/>
        </p:nvSpPr>
        <p:spPr>
          <a:xfrm>
            <a:off x="8366760" y="4069080"/>
            <a:ext cx="2926080" cy="292608"/>
          </a:xfrm>
          <a:prstGeom prst="rect">
            <a:avLst/>
          </a:prstGeom>
          <a:noFill/>
          <a:ln/>
        </p:spPr>
        <p:txBody>
          <a:bodyPr wrap="square" lIns="0" tIns="0" rIns="0" bIns="0" rtlCol="0" anchor="ctr"/>
          <a:lstStyle/>
          <a:p>
            <a:pPr marL="0" indent="0">
              <a:buNone/>
            </a:pPr>
            <a:r>
              <a:rPr lang="en-US" sz="1500" b="1" dirty="0">
                <a:solidFill>
                  <a:srgbClr val="151A17"/>
                </a:solidFill>
              </a:rPr>
              <a:t>Education &amp; Institutional</a:t>
            </a:r>
            <a:endParaRPr lang="en-US" sz="1500" dirty="0"/>
          </a:p>
        </p:txBody>
      </p:sp>
      <p:sp>
        <p:nvSpPr>
          <p:cNvPr id="21" name="Text 19"/>
          <p:cNvSpPr/>
          <p:nvPr/>
        </p:nvSpPr>
        <p:spPr>
          <a:xfrm>
            <a:off x="8366760" y="4526280"/>
            <a:ext cx="2880360" cy="457200"/>
          </a:xfrm>
          <a:prstGeom prst="rect">
            <a:avLst/>
          </a:prstGeom>
          <a:noFill/>
          <a:ln/>
        </p:spPr>
        <p:txBody>
          <a:bodyPr wrap="square" lIns="0" tIns="0" rIns="0" bIns="0" rtlCol="0" anchor="ctr">
            <a:normAutofit/>
          </a:bodyPr>
          <a:lstStyle/>
          <a:p>
            <a:pPr marL="0" indent="0">
              <a:buNone/>
            </a:pPr>
            <a:r>
              <a:rPr lang="en-US" sz="1050" dirty="0">
                <a:solidFill>
                  <a:srgbClr val="6F7771"/>
                </a:solidFill>
              </a:rPr>
              <a:t>Live environments, safeguarding and phased delivery</a:t>
            </a:r>
            <a:endParaRPr lang="en-US" sz="10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SELECTED EXPERIENCE</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Major London developments and complex logistics environments.</a:t>
            </a:r>
            <a:endParaRPr lang="en-US" sz="2800" dirty="0"/>
          </a:p>
        </p:txBody>
      </p:sp>
      <p:sp>
        <p:nvSpPr>
          <p:cNvPr id="4" name="Shape 2"/>
          <p:cNvSpPr/>
          <p:nvPr/>
        </p:nvSpPr>
        <p:spPr>
          <a:xfrm>
            <a:off x="685800" y="18288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5" name="Shape 3"/>
          <p:cNvSpPr/>
          <p:nvPr/>
        </p:nvSpPr>
        <p:spPr>
          <a:xfrm>
            <a:off x="685800" y="1828800"/>
            <a:ext cx="73152" cy="1600200"/>
          </a:xfrm>
          <a:prstGeom prst="rect">
            <a:avLst/>
          </a:prstGeom>
          <a:solidFill>
            <a:srgbClr val="16C60C"/>
          </a:solidFill>
          <a:ln w="12700">
            <a:solidFill>
              <a:srgbClr val="16C60C"/>
            </a:solidFill>
            <a:prstDash val="solid"/>
          </a:ln>
        </p:spPr>
        <p:txBody>
          <a:bodyPr/>
          <a:lstStyle/>
          <a:p>
            <a:endParaRPr lang="en-US"/>
          </a:p>
        </p:txBody>
      </p:sp>
      <p:sp>
        <p:nvSpPr>
          <p:cNvPr id="6" name="Text 4"/>
          <p:cNvSpPr/>
          <p:nvPr/>
        </p:nvSpPr>
        <p:spPr>
          <a:xfrm>
            <a:off x="914400" y="19933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The Shard</a:t>
            </a:r>
            <a:endParaRPr lang="en-US" sz="1300" dirty="0"/>
          </a:p>
        </p:txBody>
      </p:sp>
      <p:sp>
        <p:nvSpPr>
          <p:cNvPr id="7" name="Text 5"/>
          <p:cNvSpPr/>
          <p:nvPr/>
        </p:nvSpPr>
        <p:spPr>
          <a:xfrm>
            <a:off x="914400" y="23134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LONDON BRIDGE</a:t>
            </a:r>
            <a:endParaRPr lang="en-US" sz="850" dirty="0"/>
          </a:p>
        </p:txBody>
      </p:sp>
      <p:sp>
        <p:nvSpPr>
          <p:cNvPr id="8" name="Text 6"/>
          <p:cNvSpPr/>
          <p:nvPr/>
        </p:nvSpPr>
        <p:spPr>
          <a:xfrm>
            <a:off x="914400" y="26334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Major central London development experience with complex logistics, access and stakeholder interfaces.</a:t>
            </a:r>
            <a:endParaRPr lang="en-US" sz="950" dirty="0"/>
          </a:p>
        </p:txBody>
      </p:sp>
      <p:sp>
        <p:nvSpPr>
          <p:cNvPr id="9" name="Shape 7"/>
          <p:cNvSpPr/>
          <p:nvPr/>
        </p:nvSpPr>
        <p:spPr>
          <a:xfrm>
            <a:off x="4434840" y="18288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10" name="Shape 8"/>
          <p:cNvSpPr/>
          <p:nvPr/>
        </p:nvSpPr>
        <p:spPr>
          <a:xfrm>
            <a:off x="4434840" y="1828800"/>
            <a:ext cx="73152" cy="1600200"/>
          </a:xfrm>
          <a:prstGeom prst="rect">
            <a:avLst/>
          </a:prstGeom>
          <a:solidFill>
            <a:srgbClr val="16C60C"/>
          </a:solidFill>
          <a:ln w="12700">
            <a:solidFill>
              <a:srgbClr val="16C60C"/>
            </a:solidFill>
            <a:prstDash val="solid"/>
          </a:ln>
        </p:spPr>
        <p:txBody>
          <a:bodyPr/>
          <a:lstStyle/>
          <a:p>
            <a:endParaRPr lang="en-US"/>
          </a:p>
        </p:txBody>
      </p:sp>
      <p:sp>
        <p:nvSpPr>
          <p:cNvPr id="11" name="Text 9"/>
          <p:cNvSpPr/>
          <p:nvPr/>
        </p:nvSpPr>
        <p:spPr>
          <a:xfrm>
            <a:off x="4663440" y="19933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Paddington Square</a:t>
            </a:r>
            <a:endParaRPr lang="en-US" sz="1300" dirty="0"/>
          </a:p>
        </p:txBody>
      </p:sp>
      <p:sp>
        <p:nvSpPr>
          <p:cNvPr id="12" name="Text 10"/>
          <p:cNvSpPr/>
          <p:nvPr/>
        </p:nvSpPr>
        <p:spPr>
          <a:xfrm>
            <a:off x="4663440" y="23134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WESTMINSTER</a:t>
            </a:r>
            <a:endParaRPr lang="en-US" sz="850" dirty="0"/>
          </a:p>
        </p:txBody>
      </p:sp>
      <p:sp>
        <p:nvSpPr>
          <p:cNvPr id="13" name="Text 11"/>
          <p:cNvSpPr/>
          <p:nvPr/>
        </p:nvSpPr>
        <p:spPr>
          <a:xfrm>
            <a:off x="4663440" y="26334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High-density city-centre project experience with significant highway, pedestrian and servicing constraints.</a:t>
            </a:r>
            <a:endParaRPr lang="en-US" sz="950" dirty="0"/>
          </a:p>
        </p:txBody>
      </p:sp>
      <p:sp>
        <p:nvSpPr>
          <p:cNvPr id="14" name="Shape 12"/>
          <p:cNvSpPr/>
          <p:nvPr/>
        </p:nvSpPr>
        <p:spPr>
          <a:xfrm>
            <a:off x="8183880" y="18288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15" name="Shape 13"/>
          <p:cNvSpPr/>
          <p:nvPr/>
        </p:nvSpPr>
        <p:spPr>
          <a:xfrm>
            <a:off x="8183880" y="1828800"/>
            <a:ext cx="73152" cy="1600200"/>
          </a:xfrm>
          <a:prstGeom prst="rect">
            <a:avLst/>
          </a:prstGeom>
          <a:solidFill>
            <a:srgbClr val="16C60C"/>
          </a:solidFill>
          <a:ln w="12700">
            <a:solidFill>
              <a:srgbClr val="16C60C"/>
            </a:solidFill>
            <a:prstDash val="solid"/>
          </a:ln>
        </p:spPr>
        <p:txBody>
          <a:bodyPr/>
          <a:lstStyle/>
          <a:p>
            <a:endParaRPr lang="en-US"/>
          </a:p>
        </p:txBody>
      </p:sp>
      <p:sp>
        <p:nvSpPr>
          <p:cNvPr id="16" name="Text 14"/>
          <p:cNvSpPr/>
          <p:nvPr/>
        </p:nvSpPr>
        <p:spPr>
          <a:xfrm>
            <a:off x="8412480" y="19933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White Collar Factory</a:t>
            </a:r>
            <a:endParaRPr lang="en-US" sz="1300" dirty="0"/>
          </a:p>
        </p:txBody>
      </p:sp>
      <p:sp>
        <p:nvSpPr>
          <p:cNvPr id="17" name="Text 15"/>
          <p:cNvSpPr/>
          <p:nvPr/>
        </p:nvSpPr>
        <p:spPr>
          <a:xfrm>
            <a:off x="8412480" y="23134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OLD STREET</a:t>
            </a:r>
            <a:endParaRPr lang="en-US" sz="850" dirty="0"/>
          </a:p>
        </p:txBody>
      </p:sp>
      <p:sp>
        <p:nvSpPr>
          <p:cNvPr id="18" name="Text 16"/>
          <p:cNvSpPr/>
          <p:nvPr/>
        </p:nvSpPr>
        <p:spPr>
          <a:xfrm>
            <a:off x="8412480" y="26334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Commercial development experience in a constrained urban environment with intensive construction logistics requirements.</a:t>
            </a:r>
            <a:endParaRPr lang="en-US" sz="950" dirty="0"/>
          </a:p>
        </p:txBody>
      </p:sp>
      <p:sp>
        <p:nvSpPr>
          <p:cNvPr id="19" name="Shape 17"/>
          <p:cNvSpPr/>
          <p:nvPr/>
        </p:nvSpPr>
        <p:spPr>
          <a:xfrm>
            <a:off x="685800" y="38862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20" name="Shape 18"/>
          <p:cNvSpPr/>
          <p:nvPr/>
        </p:nvSpPr>
        <p:spPr>
          <a:xfrm>
            <a:off x="685800" y="3886200"/>
            <a:ext cx="73152" cy="1600200"/>
          </a:xfrm>
          <a:prstGeom prst="rect">
            <a:avLst/>
          </a:prstGeom>
          <a:solidFill>
            <a:srgbClr val="16C60C"/>
          </a:solidFill>
          <a:ln w="12700">
            <a:solidFill>
              <a:srgbClr val="16C60C"/>
            </a:solidFill>
            <a:prstDash val="solid"/>
          </a:ln>
        </p:spPr>
        <p:txBody>
          <a:bodyPr/>
          <a:lstStyle/>
          <a:p>
            <a:endParaRPr lang="en-US"/>
          </a:p>
        </p:txBody>
      </p:sp>
      <p:sp>
        <p:nvSpPr>
          <p:cNvPr id="21" name="Text 19"/>
          <p:cNvSpPr/>
          <p:nvPr/>
        </p:nvSpPr>
        <p:spPr>
          <a:xfrm>
            <a:off x="914400" y="40507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Westfield London</a:t>
            </a:r>
            <a:endParaRPr lang="en-US" sz="1300" dirty="0"/>
          </a:p>
        </p:txBody>
      </p:sp>
      <p:sp>
        <p:nvSpPr>
          <p:cNvPr id="22" name="Text 20"/>
          <p:cNvSpPr/>
          <p:nvPr/>
        </p:nvSpPr>
        <p:spPr>
          <a:xfrm>
            <a:off x="914400" y="43708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SHEPHERD’S BUSH</a:t>
            </a:r>
            <a:endParaRPr lang="en-US" sz="850" dirty="0"/>
          </a:p>
        </p:txBody>
      </p:sp>
      <p:sp>
        <p:nvSpPr>
          <p:cNvPr id="23" name="Text 21"/>
          <p:cNvSpPr/>
          <p:nvPr/>
        </p:nvSpPr>
        <p:spPr>
          <a:xfrm>
            <a:off x="914400" y="46908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Large-scale retail development experience involving complex delivery, stakeholder and operational interfaces.</a:t>
            </a:r>
            <a:endParaRPr lang="en-US" sz="950" dirty="0"/>
          </a:p>
        </p:txBody>
      </p:sp>
      <p:sp>
        <p:nvSpPr>
          <p:cNvPr id="24" name="Shape 22"/>
          <p:cNvSpPr/>
          <p:nvPr/>
        </p:nvSpPr>
        <p:spPr>
          <a:xfrm>
            <a:off x="4434840" y="38862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25" name="Shape 23"/>
          <p:cNvSpPr/>
          <p:nvPr/>
        </p:nvSpPr>
        <p:spPr>
          <a:xfrm>
            <a:off x="4434840" y="3886200"/>
            <a:ext cx="73152" cy="1600200"/>
          </a:xfrm>
          <a:prstGeom prst="rect">
            <a:avLst/>
          </a:prstGeom>
          <a:solidFill>
            <a:srgbClr val="16C60C"/>
          </a:solidFill>
          <a:ln w="12700">
            <a:solidFill>
              <a:srgbClr val="16C60C"/>
            </a:solidFill>
            <a:prstDash val="solid"/>
          </a:ln>
        </p:spPr>
        <p:txBody>
          <a:bodyPr/>
          <a:lstStyle/>
          <a:p>
            <a:endParaRPr lang="en-US"/>
          </a:p>
        </p:txBody>
      </p:sp>
      <p:sp>
        <p:nvSpPr>
          <p:cNvPr id="26" name="Text 24"/>
          <p:cNvSpPr/>
          <p:nvPr/>
        </p:nvSpPr>
        <p:spPr>
          <a:xfrm>
            <a:off x="4663440" y="40507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Westfield Stratford City</a:t>
            </a:r>
            <a:endParaRPr lang="en-US" sz="1300" dirty="0"/>
          </a:p>
        </p:txBody>
      </p:sp>
      <p:sp>
        <p:nvSpPr>
          <p:cNvPr id="27" name="Text 25"/>
          <p:cNvSpPr/>
          <p:nvPr/>
        </p:nvSpPr>
        <p:spPr>
          <a:xfrm>
            <a:off x="4663440" y="43708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STRATFORD</a:t>
            </a:r>
            <a:endParaRPr lang="en-US" sz="850" dirty="0"/>
          </a:p>
        </p:txBody>
      </p:sp>
      <p:sp>
        <p:nvSpPr>
          <p:cNvPr id="28" name="Text 26"/>
          <p:cNvSpPr/>
          <p:nvPr/>
        </p:nvSpPr>
        <p:spPr>
          <a:xfrm>
            <a:off x="4663440" y="46908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Major mixed-use / retail development with significant construction logistics and infrastructure interfaces.</a:t>
            </a:r>
            <a:endParaRPr lang="en-US" sz="950" dirty="0"/>
          </a:p>
        </p:txBody>
      </p:sp>
      <p:sp>
        <p:nvSpPr>
          <p:cNvPr id="29" name="Shape 27"/>
          <p:cNvSpPr/>
          <p:nvPr/>
        </p:nvSpPr>
        <p:spPr>
          <a:xfrm>
            <a:off x="8183880" y="38862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30" name="Shape 28"/>
          <p:cNvSpPr/>
          <p:nvPr/>
        </p:nvSpPr>
        <p:spPr>
          <a:xfrm>
            <a:off x="8183880" y="3886200"/>
            <a:ext cx="73152" cy="1600200"/>
          </a:xfrm>
          <a:prstGeom prst="rect">
            <a:avLst/>
          </a:prstGeom>
          <a:solidFill>
            <a:srgbClr val="16C60C"/>
          </a:solidFill>
          <a:ln w="12700">
            <a:solidFill>
              <a:srgbClr val="16C60C"/>
            </a:solidFill>
            <a:prstDash val="solid"/>
          </a:ln>
        </p:spPr>
        <p:txBody>
          <a:bodyPr/>
          <a:lstStyle/>
          <a:p>
            <a:endParaRPr lang="en-US"/>
          </a:p>
        </p:txBody>
      </p:sp>
      <p:sp>
        <p:nvSpPr>
          <p:cNvPr id="31" name="Text 29"/>
          <p:cNvSpPr/>
          <p:nvPr/>
        </p:nvSpPr>
        <p:spPr>
          <a:xfrm>
            <a:off x="8412480" y="40507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Olympic Media Centre</a:t>
            </a:r>
            <a:endParaRPr lang="en-US" sz="1300" dirty="0"/>
          </a:p>
        </p:txBody>
      </p:sp>
      <p:sp>
        <p:nvSpPr>
          <p:cNvPr id="32" name="Text 30"/>
          <p:cNvSpPr/>
          <p:nvPr/>
        </p:nvSpPr>
        <p:spPr>
          <a:xfrm>
            <a:off x="8412480" y="43708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STRATFORD</a:t>
            </a:r>
            <a:endParaRPr lang="en-US" sz="850" dirty="0"/>
          </a:p>
        </p:txBody>
      </p:sp>
      <p:sp>
        <p:nvSpPr>
          <p:cNvPr id="33" name="Text 31"/>
          <p:cNvSpPr/>
          <p:nvPr/>
        </p:nvSpPr>
        <p:spPr>
          <a:xfrm>
            <a:off x="8412480" y="46908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Major programme experience in a high-profile, multi-stakeholder construction environment.</a:t>
            </a:r>
            <a:endParaRPr lang="en-US" sz="950" dirty="0"/>
          </a:p>
        </p:txBody>
      </p:sp>
      <p:sp>
        <p:nvSpPr>
          <p:cNvPr id="34"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RECENT &amp; SPECIALIST EXPERIENCE</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From planning condition discharge to live logistics strategy.</a:t>
            </a:r>
            <a:endParaRPr lang="en-US" sz="2800" dirty="0"/>
          </a:p>
        </p:txBody>
      </p:sp>
      <p:sp>
        <p:nvSpPr>
          <p:cNvPr id="4" name="Shape 2"/>
          <p:cNvSpPr/>
          <p:nvPr/>
        </p:nvSpPr>
        <p:spPr>
          <a:xfrm>
            <a:off x="685800" y="18288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5" name="Shape 3"/>
          <p:cNvSpPr/>
          <p:nvPr/>
        </p:nvSpPr>
        <p:spPr>
          <a:xfrm>
            <a:off x="685800" y="1828800"/>
            <a:ext cx="73152" cy="1600200"/>
          </a:xfrm>
          <a:prstGeom prst="rect">
            <a:avLst/>
          </a:prstGeom>
          <a:solidFill>
            <a:srgbClr val="16C60C"/>
          </a:solidFill>
          <a:ln w="12700">
            <a:solidFill>
              <a:srgbClr val="16C60C"/>
            </a:solidFill>
            <a:prstDash val="solid"/>
          </a:ln>
        </p:spPr>
        <p:txBody>
          <a:bodyPr/>
          <a:lstStyle/>
          <a:p>
            <a:endParaRPr lang="en-US"/>
          </a:p>
        </p:txBody>
      </p:sp>
      <p:sp>
        <p:nvSpPr>
          <p:cNvPr id="6" name="Text 4"/>
          <p:cNvSpPr/>
          <p:nvPr/>
        </p:nvSpPr>
        <p:spPr>
          <a:xfrm>
            <a:off x="914400" y="19933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Large-scale Data Centres</a:t>
            </a:r>
            <a:endParaRPr lang="en-US" sz="1300" dirty="0"/>
          </a:p>
        </p:txBody>
      </p:sp>
      <p:sp>
        <p:nvSpPr>
          <p:cNvPr id="7" name="Text 5"/>
          <p:cNvSpPr/>
          <p:nvPr/>
        </p:nvSpPr>
        <p:spPr>
          <a:xfrm>
            <a:off x="914400" y="23134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UK &amp; EUROPE</a:t>
            </a:r>
            <a:endParaRPr lang="en-US" sz="850" dirty="0"/>
          </a:p>
        </p:txBody>
      </p:sp>
      <p:sp>
        <p:nvSpPr>
          <p:cNvPr id="8" name="Text 6"/>
          <p:cNvSpPr/>
          <p:nvPr/>
        </p:nvSpPr>
        <p:spPr>
          <a:xfrm>
            <a:off x="914400" y="26334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Logistics planning, work winning and delivery support for high-intensity, programme-critical developments.</a:t>
            </a:r>
            <a:endParaRPr lang="en-US" sz="950" dirty="0"/>
          </a:p>
        </p:txBody>
      </p:sp>
      <p:sp>
        <p:nvSpPr>
          <p:cNvPr id="9" name="Shape 7"/>
          <p:cNvSpPr/>
          <p:nvPr/>
        </p:nvSpPr>
        <p:spPr>
          <a:xfrm>
            <a:off x="4434840" y="18288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10" name="Shape 8"/>
          <p:cNvSpPr/>
          <p:nvPr/>
        </p:nvSpPr>
        <p:spPr>
          <a:xfrm>
            <a:off x="4434840" y="1828800"/>
            <a:ext cx="73152" cy="1600200"/>
          </a:xfrm>
          <a:prstGeom prst="rect">
            <a:avLst/>
          </a:prstGeom>
          <a:solidFill>
            <a:srgbClr val="16C60C"/>
          </a:solidFill>
          <a:ln w="12700">
            <a:solidFill>
              <a:srgbClr val="16C60C"/>
            </a:solidFill>
            <a:prstDash val="solid"/>
          </a:ln>
        </p:spPr>
        <p:txBody>
          <a:bodyPr/>
          <a:lstStyle/>
          <a:p>
            <a:endParaRPr lang="en-US"/>
          </a:p>
        </p:txBody>
      </p:sp>
      <p:sp>
        <p:nvSpPr>
          <p:cNvPr id="11" name="Text 9"/>
          <p:cNvSpPr/>
          <p:nvPr/>
        </p:nvSpPr>
        <p:spPr>
          <a:xfrm>
            <a:off x="4663440" y="19933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Whitechapel Road</a:t>
            </a:r>
            <a:endParaRPr lang="en-US" sz="1300" dirty="0"/>
          </a:p>
        </p:txBody>
      </p:sp>
      <p:sp>
        <p:nvSpPr>
          <p:cNvPr id="12" name="Text 10"/>
          <p:cNvSpPr/>
          <p:nvPr/>
        </p:nvSpPr>
        <p:spPr>
          <a:xfrm>
            <a:off x="4663440" y="23134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LONDON</a:t>
            </a:r>
            <a:endParaRPr lang="en-US" sz="850" dirty="0"/>
          </a:p>
        </p:txBody>
      </p:sp>
      <p:sp>
        <p:nvSpPr>
          <p:cNvPr id="13" name="Text 11"/>
          <p:cNvSpPr/>
          <p:nvPr/>
        </p:nvSpPr>
        <p:spPr>
          <a:xfrm>
            <a:off x="4663440" y="26334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Construction logistics planning with TfL / cycle infrastructure interface and servicing constraints.</a:t>
            </a:r>
            <a:endParaRPr lang="en-US" sz="950" dirty="0"/>
          </a:p>
        </p:txBody>
      </p:sp>
      <p:sp>
        <p:nvSpPr>
          <p:cNvPr id="14" name="Shape 12"/>
          <p:cNvSpPr/>
          <p:nvPr/>
        </p:nvSpPr>
        <p:spPr>
          <a:xfrm>
            <a:off x="8183880" y="18288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15" name="Shape 13"/>
          <p:cNvSpPr/>
          <p:nvPr/>
        </p:nvSpPr>
        <p:spPr>
          <a:xfrm>
            <a:off x="8183880" y="1828800"/>
            <a:ext cx="73152" cy="1600200"/>
          </a:xfrm>
          <a:prstGeom prst="rect">
            <a:avLst/>
          </a:prstGeom>
          <a:solidFill>
            <a:srgbClr val="16C60C"/>
          </a:solidFill>
          <a:ln w="12700">
            <a:solidFill>
              <a:srgbClr val="16C60C"/>
            </a:solidFill>
            <a:prstDash val="solid"/>
          </a:ln>
        </p:spPr>
        <p:txBody>
          <a:bodyPr/>
          <a:lstStyle/>
          <a:p>
            <a:endParaRPr lang="en-US"/>
          </a:p>
        </p:txBody>
      </p:sp>
      <p:sp>
        <p:nvSpPr>
          <p:cNvPr id="16" name="Text 14"/>
          <p:cNvSpPr/>
          <p:nvPr/>
        </p:nvSpPr>
        <p:spPr>
          <a:xfrm>
            <a:off x="8412480" y="19933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Headley Court</a:t>
            </a:r>
            <a:endParaRPr lang="en-US" sz="1300" dirty="0"/>
          </a:p>
        </p:txBody>
      </p:sp>
      <p:sp>
        <p:nvSpPr>
          <p:cNvPr id="17" name="Text 15"/>
          <p:cNvSpPr/>
          <p:nvPr/>
        </p:nvSpPr>
        <p:spPr>
          <a:xfrm>
            <a:off x="8412480" y="23134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SURREY</a:t>
            </a:r>
            <a:endParaRPr lang="en-US" sz="850" dirty="0"/>
          </a:p>
        </p:txBody>
      </p:sp>
      <p:sp>
        <p:nvSpPr>
          <p:cNvPr id="18" name="Text 16"/>
          <p:cNvSpPr/>
          <p:nvPr/>
        </p:nvSpPr>
        <p:spPr>
          <a:xfrm>
            <a:off x="8412480" y="26334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Traffic management, access, delivery controls and waste planning across a complex campus environment.</a:t>
            </a:r>
            <a:endParaRPr lang="en-US" sz="950" dirty="0"/>
          </a:p>
        </p:txBody>
      </p:sp>
      <p:sp>
        <p:nvSpPr>
          <p:cNvPr id="19" name="Shape 17"/>
          <p:cNvSpPr/>
          <p:nvPr/>
        </p:nvSpPr>
        <p:spPr>
          <a:xfrm>
            <a:off x="685800" y="38862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20" name="Shape 18"/>
          <p:cNvSpPr/>
          <p:nvPr/>
        </p:nvSpPr>
        <p:spPr>
          <a:xfrm>
            <a:off x="685800" y="3886200"/>
            <a:ext cx="73152" cy="1600200"/>
          </a:xfrm>
          <a:prstGeom prst="rect">
            <a:avLst/>
          </a:prstGeom>
          <a:solidFill>
            <a:srgbClr val="16C60C"/>
          </a:solidFill>
          <a:ln w="12700">
            <a:solidFill>
              <a:srgbClr val="16C60C"/>
            </a:solidFill>
            <a:prstDash val="solid"/>
          </a:ln>
        </p:spPr>
        <p:txBody>
          <a:bodyPr/>
          <a:lstStyle/>
          <a:p>
            <a:endParaRPr lang="en-US"/>
          </a:p>
        </p:txBody>
      </p:sp>
      <p:sp>
        <p:nvSpPr>
          <p:cNvPr id="21" name="Text 19"/>
          <p:cNvSpPr/>
          <p:nvPr/>
        </p:nvSpPr>
        <p:spPr>
          <a:xfrm>
            <a:off x="914400" y="40507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One Milton Avenue</a:t>
            </a:r>
            <a:endParaRPr lang="en-US" sz="1300" dirty="0"/>
          </a:p>
        </p:txBody>
      </p:sp>
      <p:sp>
        <p:nvSpPr>
          <p:cNvPr id="22" name="Text 20"/>
          <p:cNvSpPr/>
          <p:nvPr/>
        </p:nvSpPr>
        <p:spPr>
          <a:xfrm>
            <a:off x="914400" y="43708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CAMBRIDGE</a:t>
            </a:r>
            <a:endParaRPr lang="en-US" sz="850" dirty="0"/>
          </a:p>
        </p:txBody>
      </p:sp>
      <p:sp>
        <p:nvSpPr>
          <p:cNvPr id="23" name="Text 21"/>
          <p:cNvSpPr/>
          <p:nvPr/>
        </p:nvSpPr>
        <p:spPr>
          <a:xfrm>
            <a:off x="914400" y="46908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Gate strategy, vehicle tracking and logistics testing for a constrained multi-gate construction site.</a:t>
            </a:r>
            <a:endParaRPr lang="en-US" sz="950" dirty="0"/>
          </a:p>
        </p:txBody>
      </p:sp>
      <p:sp>
        <p:nvSpPr>
          <p:cNvPr id="24" name="Shape 22"/>
          <p:cNvSpPr/>
          <p:nvPr/>
        </p:nvSpPr>
        <p:spPr>
          <a:xfrm>
            <a:off x="4434840" y="38862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25" name="Shape 23"/>
          <p:cNvSpPr/>
          <p:nvPr/>
        </p:nvSpPr>
        <p:spPr>
          <a:xfrm>
            <a:off x="4434840" y="3886200"/>
            <a:ext cx="73152" cy="1600200"/>
          </a:xfrm>
          <a:prstGeom prst="rect">
            <a:avLst/>
          </a:prstGeom>
          <a:solidFill>
            <a:srgbClr val="16C60C"/>
          </a:solidFill>
          <a:ln w="12700">
            <a:solidFill>
              <a:srgbClr val="16C60C"/>
            </a:solidFill>
            <a:prstDash val="solid"/>
          </a:ln>
        </p:spPr>
        <p:txBody>
          <a:bodyPr/>
          <a:lstStyle/>
          <a:p>
            <a:endParaRPr lang="en-US"/>
          </a:p>
        </p:txBody>
      </p:sp>
      <p:sp>
        <p:nvSpPr>
          <p:cNvPr id="26" name="Text 24"/>
          <p:cNvSpPr/>
          <p:nvPr/>
        </p:nvSpPr>
        <p:spPr>
          <a:xfrm>
            <a:off x="4663440" y="40507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One Fleet Place</a:t>
            </a:r>
            <a:endParaRPr lang="en-US" sz="1300" dirty="0"/>
          </a:p>
        </p:txBody>
      </p:sp>
      <p:sp>
        <p:nvSpPr>
          <p:cNvPr id="27" name="Text 25"/>
          <p:cNvSpPr/>
          <p:nvPr/>
        </p:nvSpPr>
        <p:spPr>
          <a:xfrm>
            <a:off x="4663440" y="43708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CITY OF LONDON</a:t>
            </a:r>
            <a:endParaRPr lang="en-US" sz="850" dirty="0"/>
          </a:p>
        </p:txBody>
      </p:sp>
      <p:sp>
        <p:nvSpPr>
          <p:cNvPr id="28" name="Text 26"/>
          <p:cNvSpPr/>
          <p:nvPr/>
        </p:nvSpPr>
        <p:spPr>
          <a:xfrm>
            <a:off x="4663440" y="46908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Hoist and delivery logistics planning for a constrained commercial development.</a:t>
            </a:r>
            <a:endParaRPr lang="en-US" sz="950" dirty="0"/>
          </a:p>
        </p:txBody>
      </p:sp>
      <p:sp>
        <p:nvSpPr>
          <p:cNvPr id="29" name="Shape 27"/>
          <p:cNvSpPr/>
          <p:nvPr/>
        </p:nvSpPr>
        <p:spPr>
          <a:xfrm>
            <a:off x="8183880" y="3886200"/>
            <a:ext cx="3337560" cy="1600200"/>
          </a:xfrm>
          <a:prstGeom prst="roundRect">
            <a:avLst>
              <a:gd name="adj" fmla="val 3429"/>
            </a:avLst>
          </a:prstGeom>
          <a:solidFill>
            <a:srgbClr val="FFFFFF"/>
          </a:solidFill>
          <a:ln w="12700">
            <a:solidFill>
              <a:srgbClr val="DDE2DE"/>
            </a:solidFill>
            <a:prstDash val="solid"/>
          </a:ln>
        </p:spPr>
        <p:txBody>
          <a:bodyPr/>
          <a:lstStyle/>
          <a:p>
            <a:endParaRPr lang="en-US"/>
          </a:p>
        </p:txBody>
      </p:sp>
      <p:sp>
        <p:nvSpPr>
          <p:cNvPr id="30" name="Shape 28"/>
          <p:cNvSpPr/>
          <p:nvPr/>
        </p:nvSpPr>
        <p:spPr>
          <a:xfrm>
            <a:off x="8183880" y="3886200"/>
            <a:ext cx="73152" cy="1600200"/>
          </a:xfrm>
          <a:prstGeom prst="rect">
            <a:avLst/>
          </a:prstGeom>
          <a:solidFill>
            <a:srgbClr val="16C60C"/>
          </a:solidFill>
          <a:ln w="12700">
            <a:solidFill>
              <a:srgbClr val="16C60C"/>
            </a:solidFill>
            <a:prstDash val="solid"/>
          </a:ln>
        </p:spPr>
        <p:txBody>
          <a:bodyPr/>
          <a:lstStyle/>
          <a:p>
            <a:endParaRPr lang="en-US"/>
          </a:p>
        </p:txBody>
      </p:sp>
      <p:sp>
        <p:nvSpPr>
          <p:cNvPr id="31" name="Text 29"/>
          <p:cNvSpPr/>
          <p:nvPr/>
        </p:nvSpPr>
        <p:spPr>
          <a:xfrm>
            <a:off x="8412480" y="4050792"/>
            <a:ext cx="292608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St James’s Square</a:t>
            </a:r>
            <a:endParaRPr lang="en-US" sz="1300" dirty="0"/>
          </a:p>
        </p:txBody>
      </p:sp>
      <p:sp>
        <p:nvSpPr>
          <p:cNvPr id="32" name="Text 30"/>
          <p:cNvSpPr/>
          <p:nvPr/>
        </p:nvSpPr>
        <p:spPr>
          <a:xfrm>
            <a:off x="8412480" y="4370832"/>
            <a:ext cx="292608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WESTMINSTER</a:t>
            </a:r>
            <a:endParaRPr lang="en-US" sz="850" dirty="0"/>
          </a:p>
        </p:txBody>
      </p:sp>
      <p:sp>
        <p:nvSpPr>
          <p:cNvPr id="33" name="Text 31"/>
          <p:cNvSpPr/>
          <p:nvPr/>
        </p:nvSpPr>
        <p:spPr>
          <a:xfrm>
            <a:off x="8412480" y="4690872"/>
            <a:ext cx="2926080" cy="640080"/>
          </a:xfrm>
          <a:prstGeom prst="rect">
            <a:avLst/>
          </a:prstGeom>
          <a:noFill/>
          <a:ln/>
        </p:spPr>
        <p:txBody>
          <a:bodyPr wrap="square" lIns="0" tIns="0" rIns="0" bIns="0" rtlCol="0" anchor="t">
            <a:normAutofit/>
          </a:bodyPr>
          <a:lstStyle/>
          <a:p>
            <a:pPr marL="0" indent="0">
              <a:buNone/>
            </a:pPr>
            <a:r>
              <a:rPr lang="en-US" sz="950" dirty="0">
                <a:solidFill>
                  <a:srgbClr val="6F7771"/>
                </a:solidFill>
              </a:rPr>
              <a:t>Pit-lane logistics, delivery controls, temporary operations and constrained central London access planning.</a:t>
            </a:r>
            <a:endParaRPr lang="en-US" sz="950" dirty="0"/>
          </a:p>
        </p:txBody>
      </p:sp>
      <p:sp>
        <p:nvSpPr>
          <p:cNvPr id="34"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411480"/>
            <a:ext cx="4114800" cy="228600"/>
          </a:xfrm>
          <a:prstGeom prst="rect">
            <a:avLst/>
          </a:prstGeom>
          <a:noFill/>
          <a:ln/>
        </p:spPr>
        <p:txBody>
          <a:bodyPr wrap="square" lIns="0" tIns="0" rIns="0" bIns="0" rtlCol="0" anchor="ctr"/>
          <a:lstStyle/>
          <a:p>
            <a:pPr marL="0" indent="0">
              <a:buNone/>
            </a:pPr>
            <a:r>
              <a:rPr lang="en-US" sz="1000" b="1" kern="0" spc="130" dirty="0">
                <a:solidFill>
                  <a:srgbClr val="16C60C"/>
                </a:solidFill>
              </a:rPr>
              <a:t>HOW WE CAN SUPPORT</a:t>
            </a:r>
            <a:endParaRPr lang="en-US" sz="1000" dirty="0"/>
          </a:p>
        </p:txBody>
      </p:sp>
      <p:sp>
        <p:nvSpPr>
          <p:cNvPr id="3" name="Text 1"/>
          <p:cNvSpPr/>
          <p:nvPr/>
        </p:nvSpPr>
        <p:spPr>
          <a:xfrm>
            <a:off x="594360" y="731520"/>
            <a:ext cx="7680960" cy="594360"/>
          </a:xfrm>
          <a:prstGeom prst="rect">
            <a:avLst/>
          </a:prstGeom>
          <a:noFill/>
          <a:ln/>
        </p:spPr>
        <p:txBody>
          <a:bodyPr wrap="square" lIns="0" tIns="0" rIns="0" bIns="0" rtlCol="0" anchor="ctr"/>
          <a:lstStyle/>
          <a:p>
            <a:pPr marL="0" indent="0">
              <a:buNone/>
            </a:pPr>
            <a:r>
              <a:rPr lang="en-US" sz="2800" b="1" dirty="0">
                <a:solidFill>
                  <a:srgbClr val="151A17"/>
                </a:solidFill>
              </a:rPr>
              <a:t>A flexible consultancy model built around project needs.</a:t>
            </a:r>
            <a:endParaRPr lang="en-US" sz="2800" dirty="0"/>
          </a:p>
        </p:txBody>
      </p:sp>
      <p:sp>
        <p:nvSpPr>
          <p:cNvPr id="4" name="Shape 2"/>
          <p:cNvSpPr/>
          <p:nvPr/>
        </p:nvSpPr>
        <p:spPr>
          <a:xfrm>
            <a:off x="822960" y="1965960"/>
            <a:ext cx="498348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5" name="Shape 3"/>
          <p:cNvSpPr/>
          <p:nvPr/>
        </p:nvSpPr>
        <p:spPr>
          <a:xfrm>
            <a:off x="822960" y="1965960"/>
            <a:ext cx="73152" cy="1508760"/>
          </a:xfrm>
          <a:prstGeom prst="rect">
            <a:avLst/>
          </a:prstGeom>
          <a:solidFill>
            <a:srgbClr val="16C60C"/>
          </a:solidFill>
          <a:ln w="12700">
            <a:solidFill>
              <a:srgbClr val="16C60C"/>
            </a:solidFill>
            <a:prstDash val="solid"/>
          </a:ln>
        </p:spPr>
        <p:txBody>
          <a:bodyPr/>
          <a:lstStyle/>
          <a:p>
            <a:endParaRPr lang="en-US"/>
          </a:p>
        </p:txBody>
      </p:sp>
      <p:sp>
        <p:nvSpPr>
          <p:cNvPr id="6" name="Text 4"/>
          <p:cNvSpPr/>
          <p:nvPr/>
        </p:nvSpPr>
        <p:spPr>
          <a:xfrm>
            <a:off x="1051560" y="2130552"/>
            <a:ext cx="457200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Fixed-fee commissions</a:t>
            </a:r>
            <a:endParaRPr lang="en-US" sz="1300" dirty="0"/>
          </a:p>
        </p:txBody>
      </p:sp>
      <p:sp>
        <p:nvSpPr>
          <p:cNvPr id="7" name="Text 5"/>
          <p:cNvSpPr/>
          <p:nvPr/>
        </p:nvSpPr>
        <p:spPr>
          <a:xfrm>
            <a:off x="1051560" y="2450592"/>
            <a:ext cx="457200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ENGAGEMENT 01</a:t>
            </a:r>
            <a:endParaRPr lang="en-US" sz="850" dirty="0"/>
          </a:p>
        </p:txBody>
      </p:sp>
      <p:sp>
        <p:nvSpPr>
          <p:cNvPr id="8" name="Text 6"/>
          <p:cNvSpPr/>
          <p:nvPr/>
        </p:nvSpPr>
        <p:spPr>
          <a:xfrm>
            <a:off x="1051560" y="2770632"/>
            <a:ext cx="457200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Defined technical deliverables such as CMPs, CLPs, CTMPs, swept paths and servicing plans.</a:t>
            </a:r>
            <a:endParaRPr lang="en-US" sz="950" dirty="0"/>
          </a:p>
        </p:txBody>
      </p:sp>
      <p:sp>
        <p:nvSpPr>
          <p:cNvPr id="9" name="Shape 7"/>
          <p:cNvSpPr/>
          <p:nvPr/>
        </p:nvSpPr>
        <p:spPr>
          <a:xfrm>
            <a:off x="6309360" y="1965960"/>
            <a:ext cx="498348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10" name="Shape 8"/>
          <p:cNvSpPr/>
          <p:nvPr/>
        </p:nvSpPr>
        <p:spPr>
          <a:xfrm>
            <a:off x="6309360" y="1965960"/>
            <a:ext cx="73152" cy="1508760"/>
          </a:xfrm>
          <a:prstGeom prst="rect">
            <a:avLst/>
          </a:prstGeom>
          <a:solidFill>
            <a:srgbClr val="16C60C"/>
          </a:solidFill>
          <a:ln w="12700">
            <a:solidFill>
              <a:srgbClr val="16C60C"/>
            </a:solidFill>
            <a:prstDash val="solid"/>
          </a:ln>
        </p:spPr>
        <p:txBody>
          <a:bodyPr/>
          <a:lstStyle/>
          <a:p>
            <a:endParaRPr lang="en-US"/>
          </a:p>
        </p:txBody>
      </p:sp>
      <p:sp>
        <p:nvSpPr>
          <p:cNvPr id="11" name="Text 9"/>
          <p:cNvSpPr/>
          <p:nvPr/>
        </p:nvSpPr>
        <p:spPr>
          <a:xfrm>
            <a:off x="6537960" y="2130552"/>
            <a:ext cx="457200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Associate consultancy</a:t>
            </a:r>
            <a:endParaRPr lang="en-US" sz="1300" dirty="0"/>
          </a:p>
        </p:txBody>
      </p:sp>
      <p:sp>
        <p:nvSpPr>
          <p:cNvPr id="12" name="Text 10"/>
          <p:cNvSpPr/>
          <p:nvPr/>
        </p:nvSpPr>
        <p:spPr>
          <a:xfrm>
            <a:off x="6537960" y="2450592"/>
            <a:ext cx="457200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ENGAGEMENT 02</a:t>
            </a:r>
            <a:endParaRPr lang="en-US" sz="850" dirty="0"/>
          </a:p>
        </p:txBody>
      </p:sp>
      <p:sp>
        <p:nvSpPr>
          <p:cNvPr id="13" name="Text 11"/>
          <p:cNvSpPr/>
          <p:nvPr/>
        </p:nvSpPr>
        <p:spPr>
          <a:xfrm>
            <a:off x="6537960" y="2770632"/>
            <a:ext cx="457200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Embedded specialist support for project managers, planners and consultants when extra capability is required.</a:t>
            </a:r>
            <a:endParaRPr lang="en-US" sz="950" dirty="0"/>
          </a:p>
        </p:txBody>
      </p:sp>
      <p:sp>
        <p:nvSpPr>
          <p:cNvPr id="14" name="Shape 12"/>
          <p:cNvSpPr/>
          <p:nvPr/>
        </p:nvSpPr>
        <p:spPr>
          <a:xfrm>
            <a:off x="822960" y="3840480"/>
            <a:ext cx="498348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15" name="Shape 13"/>
          <p:cNvSpPr/>
          <p:nvPr/>
        </p:nvSpPr>
        <p:spPr>
          <a:xfrm>
            <a:off x="822960" y="3840480"/>
            <a:ext cx="73152" cy="1508760"/>
          </a:xfrm>
          <a:prstGeom prst="rect">
            <a:avLst/>
          </a:prstGeom>
          <a:solidFill>
            <a:srgbClr val="16C60C"/>
          </a:solidFill>
          <a:ln w="12700">
            <a:solidFill>
              <a:srgbClr val="16C60C"/>
            </a:solidFill>
            <a:prstDash val="solid"/>
          </a:ln>
        </p:spPr>
        <p:txBody>
          <a:bodyPr/>
          <a:lstStyle/>
          <a:p>
            <a:endParaRPr lang="en-US"/>
          </a:p>
        </p:txBody>
      </p:sp>
      <p:sp>
        <p:nvSpPr>
          <p:cNvPr id="16" name="Text 14"/>
          <p:cNvSpPr/>
          <p:nvPr/>
        </p:nvSpPr>
        <p:spPr>
          <a:xfrm>
            <a:off x="1051560" y="4005072"/>
            <a:ext cx="457200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Day-rate support</a:t>
            </a:r>
            <a:endParaRPr lang="en-US" sz="1300" dirty="0"/>
          </a:p>
        </p:txBody>
      </p:sp>
      <p:sp>
        <p:nvSpPr>
          <p:cNvPr id="17" name="Text 15"/>
          <p:cNvSpPr/>
          <p:nvPr/>
        </p:nvSpPr>
        <p:spPr>
          <a:xfrm>
            <a:off x="1051560" y="4325112"/>
            <a:ext cx="457200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ENGAGEMENT 03</a:t>
            </a:r>
            <a:endParaRPr lang="en-US" sz="850" dirty="0"/>
          </a:p>
        </p:txBody>
      </p:sp>
      <p:sp>
        <p:nvSpPr>
          <p:cNvPr id="18" name="Text 16"/>
          <p:cNvSpPr/>
          <p:nvPr/>
        </p:nvSpPr>
        <p:spPr>
          <a:xfrm>
            <a:off x="1051560" y="4645152"/>
            <a:ext cx="457200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Flexible resource for tender, pre-construction, technical reviews and project workshops.</a:t>
            </a:r>
            <a:endParaRPr lang="en-US" sz="950" dirty="0"/>
          </a:p>
        </p:txBody>
      </p:sp>
      <p:sp>
        <p:nvSpPr>
          <p:cNvPr id="19" name="Shape 17"/>
          <p:cNvSpPr/>
          <p:nvPr/>
        </p:nvSpPr>
        <p:spPr>
          <a:xfrm>
            <a:off x="6309360" y="3840480"/>
            <a:ext cx="4983480" cy="1508760"/>
          </a:xfrm>
          <a:prstGeom prst="roundRect">
            <a:avLst>
              <a:gd name="adj" fmla="val 3636"/>
            </a:avLst>
          </a:prstGeom>
          <a:solidFill>
            <a:srgbClr val="FFFFFF"/>
          </a:solidFill>
          <a:ln w="12700">
            <a:solidFill>
              <a:srgbClr val="DDE2DE"/>
            </a:solidFill>
            <a:prstDash val="solid"/>
          </a:ln>
        </p:spPr>
        <p:txBody>
          <a:bodyPr/>
          <a:lstStyle/>
          <a:p>
            <a:endParaRPr lang="en-US"/>
          </a:p>
        </p:txBody>
      </p:sp>
      <p:sp>
        <p:nvSpPr>
          <p:cNvPr id="20" name="Shape 18"/>
          <p:cNvSpPr/>
          <p:nvPr/>
        </p:nvSpPr>
        <p:spPr>
          <a:xfrm>
            <a:off x="6309360" y="3840480"/>
            <a:ext cx="73152" cy="1508760"/>
          </a:xfrm>
          <a:prstGeom prst="rect">
            <a:avLst/>
          </a:prstGeom>
          <a:solidFill>
            <a:srgbClr val="16C60C"/>
          </a:solidFill>
          <a:ln w="12700">
            <a:solidFill>
              <a:srgbClr val="16C60C"/>
            </a:solidFill>
            <a:prstDash val="solid"/>
          </a:ln>
        </p:spPr>
        <p:txBody>
          <a:bodyPr/>
          <a:lstStyle/>
          <a:p>
            <a:endParaRPr lang="en-US"/>
          </a:p>
        </p:txBody>
      </p:sp>
      <p:sp>
        <p:nvSpPr>
          <p:cNvPr id="21" name="Text 19"/>
          <p:cNvSpPr/>
          <p:nvPr/>
        </p:nvSpPr>
        <p:spPr>
          <a:xfrm>
            <a:off x="6537960" y="4005072"/>
            <a:ext cx="4572000" cy="256032"/>
          </a:xfrm>
          <a:prstGeom prst="rect">
            <a:avLst/>
          </a:prstGeom>
          <a:noFill/>
          <a:ln/>
        </p:spPr>
        <p:txBody>
          <a:bodyPr wrap="square" lIns="0" tIns="0" rIns="0" bIns="0" rtlCol="0" anchor="ctr">
            <a:normAutofit/>
          </a:bodyPr>
          <a:lstStyle/>
          <a:p>
            <a:pPr marL="0" indent="0">
              <a:buNone/>
            </a:pPr>
            <a:r>
              <a:rPr lang="en-US" sz="1300" b="1" dirty="0">
                <a:solidFill>
                  <a:srgbClr val="151A17"/>
                </a:solidFill>
              </a:rPr>
              <a:t>Overflow / white-label support</a:t>
            </a:r>
            <a:endParaRPr lang="en-US" sz="1300" dirty="0"/>
          </a:p>
        </p:txBody>
      </p:sp>
      <p:sp>
        <p:nvSpPr>
          <p:cNvPr id="22" name="Text 20"/>
          <p:cNvSpPr/>
          <p:nvPr/>
        </p:nvSpPr>
        <p:spPr>
          <a:xfrm>
            <a:off x="6537960" y="4325112"/>
            <a:ext cx="4572000" cy="228600"/>
          </a:xfrm>
          <a:prstGeom prst="rect">
            <a:avLst/>
          </a:prstGeom>
          <a:noFill/>
          <a:ln/>
        </p:spPr>
        <p:txBody>
          <a:bodyPr wrap="square" lIns="0" tIns="0" rIns="0" bIns="0" rtlCol="0" anchor="ctr">
            <a:normAutofit/>
          </a:bodyPr>
          <a:lstStyle/>
          <a:p>
            <a:pPr marL="0" indent="0">
              <a:buNone/>
            </a:pPr>
            <a:r>
              <a:rPr lang="en-US" sz="850" b="1" dirty="0">
                <a:solidFill>
                  <a:srgbClr val="16C60C"/>
                </a:solidFill>
              </a:rPr>
              <a:t>ENGAGEMENT 04</a:t>
            </a:r>
            <a:endParaRPr lang="en-US" sz="850" dirty="0"/>
          </a:p>
        </p:txBody>
      </p:sp>
      <p:sp>
        <p:nvSpPr>
          <p:cNvPr id="23" name="Text 21"/>
          <p:cNvSpPr/>
          <p:nvPr/>
        </p:nvSpPr>
        <p:spPr>
          <a:xfrm>
            <a:off x="6537960" y="4645152"/>
            <a:ext cx="4572000" cy="548640"/>
          </a:xfrm>
          <a:prstGeom prst="rect">
            <a:avLst/>
          </a:prstGeom>
          <a:noFill/>
          <a:ln/>
        </p:spPr>
        <p:txBody>
          <a:bodyPr wrap="square" lIns="0" tIns="0" rIns="0" bIns="0" rtlCol="0" anchor="t">
            <a:normAutofit/>
          </a:bodyPr>
          <a:lstStyle/>
          <a:p>
            <a:pPr marL="0" indent="0">
              <a:buNone/>
            </a:pPr>
            <a:r>
              <a:rPr lang="en-US" sz="950" dirty="0">
                <a:solidFill>
                  <a:srgbClr val="6F7771"/>
                </a:solidFill>
              </a:rPr>
              <a:t>Additional capacity for consultancies that need logistics expertise without increasing permanent headcount.</a:t>
            </a:r>
            <a:endParaRPr lang="en-US" sz="950" dirty="0"/>
          </a:p>
        </p:txBody>
      </p:sp>
      <p:sp>
        <p:nvSpPr>
          <p:cNvPr id="24" name="Text 22"/>
          <p:cNvSpPr/>
          <p:nvPr/>
        </p:nvSpPr>
        <p:spPr>
          <a:xfrm>
            <a:off x="2194560" y="5623560"/>
            <a:ext cx="7772400" cy="320040"/>
          </a:xfrm>
          <a:prstGeom prst="rect">
            <a:avLst/>
          </a:prstGeom>
          <a:noFill/>
          <a:ln/>
        </p:spPr>
        <p:txBody>
          <a:bodyPr wrap="square" lIns="0" tIns="0" rIns="0" bIns="0" rtlCol="0" anchor="ctr"/>
          <a:lstStyle/>
          <a:p>
            <a:pPr marL="0" indent="0" algn="ctr">
              <a:buNone/>
            </a:pPr>
            <a:r>
              <a:rPr lang="en-US" sz="1600" b="1" dirty="0">
                <a:solidFill>
                  <a:srgbClr val="16C60C"/>
                </a:solidFill>
              </a:rPr>
              <a:t>Responsive support. Clear scope. Practical outputs.</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938D"/>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A17"/>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C60C"/>
          </a:solidFill>
          <a:ln w="12700">
            <a:solidFill>
              <a:srgbClr val="16C60C"/>
            </a:solidFill>
            <a:prstDash val="solid"/>
          </a:ln>
        </p:spPr>
        <p:txBody>
          <a:bodyPr/>
          <a:lstStyle/>
          <a:p>
            <a:endParaRPr lang="en-US"/>
          </a:p>
        </p:txBody>
      </p:sp>
      <p:sp>
        <p:nvSpPr>
          <p:cNvPr id="3" name="Text 1"/>
          <p:cNvSpPr/>
          <p:nvPr/>
        </p:nvSpPr>
        <p:spPr>
          <a:xfrm>
            <a:off x="822960" y="822960"/>
            <a:ext cx="5943600" cy="548640"/>
          </a:xfrm>
          <a:prstGeom prst="rect">
            <a:avLst/>
          </a:prstGeom>
          <a:noFill/>
          <a:ln/>
        </p:spPr>
        <p:txBody>
          <a:bodyPr wrap="square" lIns="0" tIns="0" rIns="0" bIns="0" rtlCol="0" anchor="ctr"/>
          <a:lstStyle/>
          <a:p>
            <a:pPr marL="0" indent="0">
              <a:buNone/>
            </a:pPr>
            <a:r>
              <a:rPr lang="en-US" sz="2800" b="1" dirty="0">
                <a:solidFill>
                  <a:srgbClr val="FFFFFF"/>
                </a:solidFill>
              </a:rPr>
              <a:t>KAYON DESIGNS LTD</a:t>
            </a:r>
            <a:endParaRPr lang="en-US" sz="2800" dirty="0"/>
          </a:p>
        </p:txBody>
      </p:sp>
      <p:sp>
        <p:nvSpPr>
          <p:cNvPr id="4" name="Text 2"/>
          <p:cNvSpPr/>
          <p:nvPr/>
        </p:nvSpPr>
        <p:spPr>
          <a:xfrm>
            <a:off x="822960" y="1481328"/>
            <a:ext cx="6400800" cy="365760"/>
          </a:xfrm>
          <a:prstGeom prst="rect">
            <a:avLst/>
          </a:prstGeom>
          <a:noFill/>
          <a:ln/>
        </p:spPr>
        <p:txBody>
          <a:bodyPr wrap="square" lIns="0" tIns="0" rIns="0" bIns="0" rtlCol="0" anchor="ctr"/>
          <a:lstStyle/>
          <a:p>
            <a:pPr marL="0" indent="0">
              <a:buNone/>
            </a:pPr>
            <a:r>
              <a:rPr lang="en-US" sz="1500" dirty="0">
                <a:solidFill>
                  <a:srgbClr val="D8DEDA"/>
                </a:solidFill>
              </a:rPr>
              <a:t>Construction Logistics Planning &amp; Planning Consultancy</a:t>
            </a:r>
            <a:endParaRPr lang="en-US" sz="1500" dirty="0"/>
          </a:p>
        </p:txBody>
      </p:sp>
      <p:sp>
        <p:nvSpPr>
          <p:cNvPr id="5" name="Text 3"/>
          <p:cNvSpPr/>
          <p:nvPr/>
        </p:nvSpPr>
        <p:spPr>
          <a:xfrm>
            <a:off x="822960" y="2331720"/>
            <a:ext cx="5943600" cy="502920"/>
          </a:xfrm>
          <a:prstGeom prst="rect">
            <a:avLst/>
          </a:prstGeom>
          <a:noFill/>
          <a:ln/>
        </p:spPr>
        <p:txBody>
          <a:bodyPr wrap="square" lIns="0" tIns="0" rIns="0" bIns="0" rtlCol="0" anchor="ctr"/>
          <a:lstStyle/>
          <a:p>
            <a:pPr marL="0" indent="0">
              <a:buNone/>
            </a:pPr>
            <a:r>
              <a:rPr lang="en-US" sz="2600" b="1" dirty="0">
                <a:solidFill>
                  <a:srgbClr val="16C60C"/>
                </a:solidFill>
              </a:rPr>
              <a:t>Buildable. Compliant. Efficient.</a:t>
            </a:r>
            <a:endParaRPr lang="en-US" sz="2600" dirty="0"/>
          </a:p>
        </p:txBody>
      </p:sp>
      <p:sp>
        <p:nvSpPr>
          <p:cNvPr id="6" name="Text 4"/>
          <p:cNvSpPr/>
          <p:nvPr/>
        </p:nvSpPr>
        <p:spPr>
          <a:xfrm>
            <a:off x="822960" y="3108960"/>
            <a:ext cx="6217920" cy="777240"/>
          </a:xfrm>
          <a:prstGeom prst="rect">
            <a:avLst/>
          </a:prstGeom>
          <a:noFill/>
          <a:ln/>
        </p:spPr>
        <p:txBody>
          <a:bodyPr wrap="square" lIns="0" tIns="0" rIns="0" bIns="0" rtlCol="0" anchor="ctr">
            <a:normAutofit/>
          </a:bodyPr>
          <a:lstStyle/>
          <a:p>
            <a:pPr marL="0" indent="0">
              <a:buNone/>
            </a:pPr>
            <a:r>
              <a:rPr lang="en-US" sz="1600" dirty="0">
                <a:solidFill>
                  <a:srgbClr val="FFFFFF"/>
                </a:solidFill>
              </a:rPr>
              <a:t>Supporting developers, contractors, project managers and consultants from planning through to delivery.</a:t>
            </a:r>
            <a:endParaRPr lang="en-US" sz="1600" dirty="0"/>
          </a:p>
        </p:txBody>
      </p:sp>
      <p:sp>
        <p:nvSpPr>
          <p:cNvPr id="7" name="Text 5"/>
          <p:cNvSpPr/>
          <p:nvPr/>
        </p:nvSpPr>
        <p:spPr>
          <a:xfrm>
            <a:off x="822960" y="4251960"/>
            <a:ext cx="6492240" cy="914400"/>
          </a:xfrm>
          <a:prstGeom prst="rect">
            <a:avLst/>
          </a:prstGeom>
          <a:noFill/>
          <a:ln/>
        </p:spPr>
        <p:txBody>
          <a:bodyPr wrap="square" lIns="0" tIns="0" rIns="0" bIns="0" rtlCol="0" anchor="ctr">
            <a:normAutofit/>
          </a:bodyPr>
          <a:lstStyle/>
          <a:p>
            <a:pPr marL="0" indent="0">
              <a:buNone/>
            </a:pPr>
            <a:r>
              <a:rPr lang="en-US" sz="1150" dirty="0">
                <a:solidFill>
                  <a:srgbClr val="C6CEC8"/>
                </a:solidFill>
              </a:rPr>
              <a:t>Construction Management Plans | Construction Logistics Plans | CTMPs | CEMPs | Swept Paths | Access Strategies | Planning Condition Discharge | Tender Support</a:t>
            </a:r>
            <a:endParaRPr lang="en-US" sz="1150" dirty="0"/>
          </a:p>
        </p:txBody>
      </p:sp>
      <p:sp>
        <p:nvSpPr>
          <p:cNvPr id="8" name="Shape 6"/>
          <p:cNvSpPr/>
          <p:nvPr/>
        </p:nvSpPr>
        <p:spPr>
          <a:xfrm>
            <a:off x="8275320" y="914400"/>
            <a:ext cx="2926080" cy="4480560"/>
          </a:xfrm>
          <a:prstGeom prst="roundRect">
            <a:avLst>
              <a:gd name="adj" fmla="val 2500"/>
            </a:avLst>
          </a:prstGeom>
          <a:solidFill>
            <a:srgbClr val="202622"/>
          </a:solidFill>
          <a:ln w="12700">
            <a:solidFill>
              <a:srgbClr val="3A433D"/>
            </a:solidFill>
            <a:prstDash val="solid"/>
          </a:ln>
        </p:spPr>
        <p:txBody>
          <a:bodyPr/>
          <a:lstStyle/>
          <a:p>
            <a:endParaRPr lang="en-US" dirty="0"/>
          </a:p>
        </p:txBody>
      </p:sp>
      <p:sp>
        <p:nvSpPr>
          <p:cNvPr id="9" name="Text 7"/>
          <p:cNvSpPr/>
          <p:nvPr/>
        </p:nvSpPr>
        <p:spPr>
          <a:xfrm>
            <a:off x="8732520" y="1508760"/>
            <a:ext cx="2011680" cy="411480"/>
          </a:xfrm>
          <a:prstGeom prst="rect">
            <a:avLst/>
          </a:prstGeom>
          <a:noFill/>
          <a:ln/>
        </p:spPr>
        <p:txBody>
          <a:bodyPr wrap="square" lIns="0" tIns="0" rIns="0" bIns="0" rtlCol="0" anchor="ctr"/>
          <a:lstStyle/>
          <a:p>
            <a:pPr marL="0" indent="0" algn="ctr">
              <a:buNone/>
            </a:pPr>
            <a:r>
              <a:rPr lang="en-US" sz="2000" b="1" dirty="0">
                <a:solidFill>
                  <a:srgbClr val="16C60C"/>
                </a:solidFill>
              </a:rPr>
              <a:t>LET’S TALK</a:t>
            </a:r>
            <a:endParaRPr lang="en-US" sz="2000" dirty="0"/>
          </a:p>
        </p:txBody>
      </p:sp>
      <p:sp>
        <p:nvSpPr>
          <p:cNvPr id="10" name="Text 8"/>
          <p:cNvSpPr/>
          <p:nvPr/>
        </p:nvSpPr>
        <p:spPr>
          <a:xfrm>
            <a:off x="8686800" y="2240280"/>
            <a:ext cx="2103120" cy="2286000"/>
          </a:xfrm>
          <a:prstGeom prst="rect">
            <a:avLst/>
          </a:prstGeom>
          <a:noFill/>
          <a:ln/>
        </p:spPr>
        <p:txBody>
          <a:bodyPr wrap="square" lIns="635" tIns="635" rIns="635" bIns="635" rtlCol="0" anchor="ctr">
            <a:normAutofit/>
          </a:bodyPr>
          <a:lstStyle/>
          <a:p>
            <a:pPr marL="0" indent="0" algn="ctr">
              <a:buNone/>
            </a:pPr>
            <a:r>
              <a:rPr lang="en-US" sz="1150" dirty="0">
                <a:solidFill>
                  <a:srgbClr val="FFFFFF"/>
                </a:solidFill>
              </a:rPr>
              <a:t>Kaysar Alim</a:t>
            </a:r>
            <a:endParaRPr lang="en-US" sz="1150" dirty="0"/>
          </a:p>
          <a:p>
            <a:pPr marL="0" indent="0" algn="ctr">
              <a:buNone/>
            </a:pPr>
            <a:r>
              <a:rPr lang="en-US" sz="1150" dirty="0">
                <a:solidFill>
                  <a:srgbClr val="FFFFFF"/>
                </a:solidFill>
              </a:rPr>
              <a:t>Founder</a:t>
            </a:r>
            <a:endParaRPr lang="en-US" sz="1150" dirty="0"/>
          </a:p>
          <a:p>
            <a:pPr marL="0" indent="0" algn="ctr">
              <a:buNone/>
            </a:pPr>
            <a:endParaRPr lang="en-US" sz="1150" dirty="0"/>
          </a:p>
          <a:p>
            <a:pPr marL="0" indent="0" algn="ctr">
              <a:buNone/>
            </a:pPr>
            <a:r>
              <a:rPr lang="en-US" sz="1150" dirty="0">
                <a:solidFill>
                  <a:srgbClr val="FFFFFF"/>
                </a:solidFill>
              </a:rPr>
              <a:t>Kayon Designs Ltd</a:t>
            </a:r>
            <a:endParaRPr lang="en-US" sz="1150" dirty="0"/>
          </a:p>
          <a:p>
            <a:pPr marL="0" indent="0" algn="ctr">
              <a:buNone/>
            </a:pPr>
            <a:r>
              <a:rPr lang="en-US" sz="1150" dirty="0">
                <a:solidFill>
                  <a:srgbClr val="FFFFFF"/>
                </a:solidFill>
              </a:rPr>
              <a:t>London, UK</a:t>
            </a:r>
            <a:endParaRPr lang="en-US" sz="1150" dirty="0"/>
          </a:p>
          <a:p>
            <a:pPr marL="0" indent="0" algn="ctr">
              <a:buNone/>
            </a:pPr>
            <a:endParaRPr lang="en-US" sz="1150" dirty="0"/>
          </a:p>
          <a:p>
            <a:pPr marL="0" indent="0" algn="ctr">
              <a:buNone/>
            </a:pPr>
            <a:r>
              <a:rPr lang="en-US" sz="1150" dirty="0">
                <a:solidFill>
                  <a:srgbClr val="FFFFFF"/>
                </a:solidFill>
              </a:rPr>
              <a:t>Email: </a:t>
            </a:r>
            <a:r>
              <a:rPr lang="en-US" sz="1150" dirty="0" err="1">
                <a:solidFill>
                  <a:srgbClr val="FFFFFF"/>
                </a:solidFill>
              </a:rPr>
              <a:t>Kaysar.alim@gmail.com</a:t>
            </a:r>
            <a:endParaRPr lang="en-US" sz="1150" dirty="0"/>
          </a:p>
          <a:p>
            <a:pPr marL="0" indent="0" algn="ctr">
              <a:buNone/>
            </a:pPr>
            <a:r>
              <a:rPr lang="en-US" sz="1150" dirty="0">
                <a:solidFill>
                  <a:srgbClr val="FFFFFF"/>
                </a:solidFill>
              </a:rPr>
              <a:t>Mobile: 07908427865</a:t>
            </a:r>
            <a:endParaRPr lang="en-US" sz="1150" dirty="0"/>
          </a:p>
          <a:p>
            <a:pPr marL="0" indent="0" algn="ctr">
              <a:buNone/>
            </a:pPr>
            <a:r>
              <a:rPr lang="en-US" sz="1150" dirty="0">
                <a:solidFill>
                  <a:srgbClr val="FFFFFF"/>
                </a:solidFill>
              </a:rPr>
              <a:t>LinkedIn: </a:t>
            </a:r>
            <a:r>
              <a:rPr lang="en-GB" sz="1200" b="0" i="0" u="none" strike="noStrike" dirty="0" err="1">
                <a:solidFill>
                  <a:schemeClr val="bg1"/>
                </a:solidFill>
                <a:effectLst/>
                <a:latin typeface="system-ui"/>
              </a:rPr>
              <a:t>www.linkedin.com</a:t>
            </a:r>
            <a:r>
              <a:rPr lang="en-GB" sz="1200" b="0" i="0" u="none" strike="noStrike" dirty="0">
                <a:solidFill>
                  <a:schemeClr val="bg1"/>
                </a:solidFill>
                <a:effectLst/>
                <a:latin typeface="system-ui"/>
              </a:rPr>
              <a:t>/in/kaysar-alim-9b5b5967</a:t>
            </a:r>
            <a:endParaRPr lang="en-US" sz="1150" dirty="0">
              <a:solidFill>
                <a:schemeClr val="bg1"/>
              </a:solidFill>
            </a:endParaRPr>
          </a:p>
        </p:txBody>
      </p:sp>
      <p:sp>
        <p:nvSpPr>
          <p:cNvPr id="11" name="Text 9"/>
          <p:cNvSpPr/>
          <p:nvPr/>
        </p:nvSpPr>
        <p:spPr>
          <a:xfrm>
            <a:off x="8686800" y="4846320"/>
            <a:ext cx="2103120" cy="320040"/>
          </a:xfrm>
          <a:prstGeom prst="rect">
            <a:avLst/>
          </a:prstGeom>
          <a:noFill/>
          <a:ln/>
        </p:spPr>
        <p:txBody>
          <a:bodyPr wrap="square" lIns="0" tIns="0" rIns="0" bIns="0" rtlCol="0" anchor="ctr"/>
          <a:lstStyle/>
          <a:p>
            <a:pPr marL="0" indent="0" algn="ctr">
              <a:buNone/>
            </a:pPr>
            <a:r>
              <a:rPr lang="en-US" sz="1700" b="1" dirty="0">
                <a:solidFill>
                  <a:srgbClr val="FFFFFF"/>
                </a:solidFill>
              </a:rPr>
              <a:t>KAYON DESIGNS LTD</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5487</TotalTime>
  <Words>1356</Words>
  <Application>Microsoft Macintosh PowerPoint</Application>
  <PresentationFormat>Widescreen</PresentationFormat>
  <Paragraphs>247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Kayon Designs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Kayon Designs Ltd - Company Introduction</dc:title>
  <dc:subject>Construction Logistics Planning &amp; Planning Consultancy</dc:subject>
  <dc:creator>Kayon Designs Ltd</dc:creator>
  <cp:lastModifiedBy>Kaysar Alim</cp:lastModifiedBy>
  <cp:revision>3</cp:revision>
  <dcterms:created xsi:type="dcterms:W3CDTF">2026-08-06T13:28:06Z</dcterms:created>
  <dcterms:modified xsi:type="dcterms:W3CDTF">2026-08-10T09:29:32Z</dcterms:modified>
</cp:coreProperties>
</file>